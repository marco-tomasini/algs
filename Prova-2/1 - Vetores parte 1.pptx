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2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pt-BR" sz="3600"/>
              <a:t>AGT0001 – Algoritmos</a:t>
            </a:r>
            <a:br>
              <a:rPr lang="pt-BR" sz="3600"/>
            </a:br>
            <a:br>
              <a:rPr lang="pt-BR" sz="3600"/>
            </a:br>
            <a:r>
              <a:rPr lang="pt-BR" sz="3600"/>
              <a:t>Vetores</a:t>
            </a:r>
            <a:endParaRPr sz="3600"/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54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pt-BR"/>
              <a:t>Prof. </a:t>
            </a:r>
            <a:r>
              <a:rPr lang="pt-BR"/>
              <a:t>Douglas</a:t>
            </a:r>
            <a:r>
              <a:rPr lang="pt-BR"/>
              <a:t> Dutra</a:t>
            </a:r>
            <a:endParaRPr/>
          </a:p>
          <a:p>
            <a:pPr indent="0" lvl="0" marL="0" rtl="0" algn="ctr">
              <a:spcBef>
                <a:spcPts val="54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pt-BR"/>
              <a:t>Departamento de Ciência da Computação</a:t>
            </a:r>
            <a:endParaRPr/>
          </a:p>
          <a:p>
            <a:pPr indent="0" lvl="0" marL="0" rtl="0" algn="ctr">
              <a:spcBef>
                <a:spcPts val="54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pt-BR"/>
              <a:t>UDESC / Joinville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Vetores são variáveis </a:t>
            </a:r>
            <a:r>
              <a:rPr i="1" lang="pt-BR" sz="2800"/>
              <a:t>multivaloradas</a:t>
            </a:r>
            <a:r>
              <a:rPr lang="pt-BR" sz="2800"/>
              <a:t>;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Vetores são variáveis </a:t>
            </a:r>
            <a:r>
              <a:rPr i="1" lang="pt-BR" sz="2800"/>
              <a:t>multivaloradas</a:t>
            </a:r>
            <a:r>
              <a:rPr lang="pt-BR" sz="2800"/>
              <a:t>;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São variáveis </a:t>
            </a:r>
            <a:r>
              <a:rPr i="1" lang="pt-BR" sz="2800"/>
              <a:t>homogêneas</a:t>
            </a:r>
            <a:r>
              <a:rPr lang="pt-BR" sz="2800"/>
              <a:t>, ou seja, todos os valores têm mesmo tipo;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Vetores são variáveis </a:t>
            </a:r>
            <a:r>
              <a:rPr i="1" lang="pt-BR" sz="2800"/>
              <a:t>multivaloradas</a:t>
            </a:r>
            <a:r>
              <a:rPr lang="pt-BR" sz="2800"/>
              <a:t>;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São variáveis </a:t>
            </a:r>
            <a:r>
              <a:rPr i="1" lang="pt-BR" sz="2800"/>
              <a:t>homogêneas</a:t>
            </a:r>
            <a:r>
              <a:rPr lang="pt-BR" sz="2800"/>
              <a:t>, ou seja, todos os valores têm mesmo tipo;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Um vetor é sempre alocado na memória como um bloco único, e seus valores são adjacentes antes si;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110" name="Google Shape;110;p1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Vetores são variáveis </a:t>
            </a:r>
            <a:r>
              <a:rPr i="1" lang="pt-BR" sz="2800"/>
              <a:t>multivaloradas</a:t>
            </a:r>
            <a:r>
              <a:rPr lang="pt-BR" sz="2800"/>
              <a:t>;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São variáveis </a:t>
            </a:r>
            <a:r>
              <a:rPr i="1" lang="pt-BR" sz="2800"/>
              <a:t>homogêneas</a:t>
            </a:r>
            <a:r>
              <a:rPr lang="pt-BR" sz="2800"/>
              <a:t>, ou seja, todos os valores têm mesmo tipo;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Um vetor é sempre alocado na memória como um bloco único, e seus valores são adjacentes antes si;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Vetores têm uma </a:t>
            </a:r>
            <a:r>
              <a:rPr i="1" lang="pt-BR" sz="2800" u="sng"/>
              <a:t>capacidade</a:t>
            </a:r>
            <a:r>
              <a:rPr lang="pt-BR" sz="2800"/>
              <a:t> definida na declaração.</a:t>
            </a:r>
            <a:endParaRPr/>
          </a:p>
        </p:txBody>
      </p:sp>
      <p:sp>
        <p:nvSpPr>
          <p:cNvPr id="117" name="Google Shape;117;p1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123" name="Google Shape;123;p18"/>
          <p:cNvSpPr txBox="1"/>
          <p:nvPr>
            <p:ph idx="1" type="body"/>
          </p:nvPr>
        </p:nvSpPr>
        <p:spPr>
          <a:xfrm>
            <a:off x="457200" y="1600202"/>
            <a:ext cx="8229600" cy="25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Por exemplo, </a:t>
            </a:r>
            <a:r>
              <a:rPr i="1" lang="pt-BR" sz="2800"/>
              <a:t>v</a:t>
            </a:r>
            <a:r>
              <a:rPr lang="pt-BR" sz="2800"/>
              <a:t> é um vetor </a:t>
            </a:r>
            <a:r>
              <a:rPr i="1" lang="pt-BR" sz="2800"/>
              <a:t>int</a:t>
            </a:r>
            <a:r>
              <a:rPr lang="pt-BR" sz="2800"/>
              <a:t> de capacidade 10: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int v[</a:t>
            </a:r>
            <a:r>
              <a:rPr b="1" lang="pt-BR" sz="24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2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124" name="Google Shape;124;p1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457200" y="1600202"/>
            <a:ext cx="8229600" cy="25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Por exemplo, </a:t>
            </a:r>
            <a:r>
              <a:rPr i="1" lang="pt-BR" sz="2800"/>
              <a:t>v</a:t>
            </a:r>
            <a:r>
              <a:rPr lang="pt-BR" sz="2800"/>
              <a:t> é um vetor </a:t>
            </a:r>
            <a:r>
              <a:rPr i="1" lang="pt-BR" sz="2800"/>
              <a:t>int</a:t>
            </a:r>
            <a:r>
              <a:rPr lang="pt-BR" sz="2800"/>
              <a:t> de capacidade 10: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int v[</a:t>
            </a:r>
            <a:r>
              <a:rPr b="1" lang="pt-BR" sz="24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2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Pode-se visualizar um vetor </a:t>
            </a:r>
            <a:r>
              <a:rPr i="1" lang="pt-BR" sz="2800"/>
              <a:t>v</a:t>
            </a:r>
            <a:r>
              <a:rPr lang="pt-BR" sz="2800"/>
              <a:t> de maneira simples conforme o seguinte modelo: 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28194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9"/>
          <p:cNvSpPr/>
          <p:nvPr/>
        </p:nvSpPr>
        <p:spPr>
          <a:xfrm>
            <a:off x="28194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>
            <a:off x="32766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32766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37338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37338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41910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41910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46482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46482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51054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51054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55626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55626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46" name="Google Shape;146;p19"/>
          <p:cNvSpPr/>
          <p:nvPr/>
        </p:nvSpPr>
        <p:spPr>
          <a:xfrm>
            <a:off x="60198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60198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64770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64770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69342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69342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1738745" y="43434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</a:t>
            </a:r>
            <a:endParaRPr b="0" i="1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9"/>
          <p:cNvSpPr/>
          <p:nvPr/>
        </p:nvSpPr>
        <p:spPr>
          <a:xfrm>
            <a:off x="1738745" y="48006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índices</a:t>
            </a:r>
            <a:endParaRPr b="0" i="1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Introdução</a:t>
            </a:r>
            <a:endParaRPr/>
          </a:p>
        </p:txBody>
      </p:sp>
      <p:sp>
        <p:nvSpPr>
          <p:cNvPr id="159" name="Google Shape;159;p20"/>
          <p:cNvSpPr txBox="1"/>
          <p:nvPr>
            <p:ph idx="1" type="body"/>
          </p:nvPr>
        </p:nvSpPr>
        <p:spPr>
          <a:xfrm>
            <a:off x="457200" y="1600202"/>
            <a:ext cx="8229600" cy="2590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Por exemplo, </a:t>
            </a:r>
            <a:r>
              <a:rPr i="1" lang="pt-BR" sz="2800"/>
              <a:t>v</a:t>
            </a:r>
            <a:r>
              <a:rPr lang="pt-BR" sz="2800"/>
              <a:t> é um vetor </a:t>
            </a:r>
            <a:r>
              <a:rPr i="1" lang="pt-BR" sz="2800"/>
              <a:t>int</a:t>
            </a:r>
            <a:r>
              <a:rPr lang="pt-BR" sz="2800"/>
              <a:t> de capacidade 10: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int v[</a:t>
            </a:r>
            <a:r>
              <a:rPr b="1" lang="pt-BR" sz="2400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28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sz="2800"/>
              <a:t>Pode-se visualizar um vetor </a:t>
            </a:r>
            <a:r>
              <a:rPr i="1" lang="pt-BR" sz="2800"/>
              <a:t>v</a:t>
            </a:r>
            <a:r>
              <a:rPr lang="pt-BR" sz="2800"/>
              <a:t> de maneira simples conforme o seguinte modelo: 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28194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28194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32766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32766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37338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37338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41910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41910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46482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6482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51054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51054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55626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55626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175" name="Google Shape;175;p20"/>
          <p:cNvSpPr/>
          <p:nvPr/>
        </p:nvSpPr>
        <p:spPr>
          <a:xfrm>
            <a:off x="60198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0198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64770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64770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6934200" y="43434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6934200" y="4800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1738745" y="43434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</a:t>
            </a:r>
            <a:endParaRPr b="0" i="1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1738745" y="48006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pt-BR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índices</a:t>
            </a:r>
            <a:endParaRPr b="0" i="1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 rot="5400000">
            <a:off x="4876800" y="3124200"/>
            <a:ext cx="457200" cy="44196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590800" y="548640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Índices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variam de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até </a:t>
            </a:r>
            <a:r>
              <a:rPr b="0" i="1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capacidade-1</a:t>
            </a:r>
            <a:r>
              <a:rPr b="0" i="0" lang="pt-BR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Índices</a:t>
            </a: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permitem o acesso aos valores do vetor.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Exemplo: acesso ao vetor usando índices (1/5)</a:t>
            </a:r>
            <a:endParaRPr/>
          </a:p>
        </p:txBody>
      </p:sp>
      <p:sp>
        <p:nvSpPr>
          <p:cNvPr id="190" name="Google Shape;190;p21"/>
          <p:cNvSpPr txBox="1"/>
          <p:nvPr>
            <p:ph idx="1" type="body"/>
          </p:nvPr>
        </p:nvSpPr>
        <p:spPr>
          <a:xfrm>
            <a:off x="457200" y="1600202"/>
            <a:ext cx="8229600" cy="3581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int v[10];</a:t>
            </a:r>
            <a:endParaRPr sz="19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/>
          </a:p>
        </p:txBody>
      </p:sp>
      <p:sp>
        <p:nvSpPr>
          <p:cNvPr id="191" name="Google Shape;191;p2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28194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28194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94" name="Google Shape;194;p21"/>
          <p:cNvSpPr/>
          <p:nvPr/>
        </p:nvSpPr>
        <p:spPr>
          <a:xfrm>
            <a:off x="32766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32766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37338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37338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41910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41910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46482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46482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1054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1054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55626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55626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60198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60198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64770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64770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69342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69342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12" name="Google Shape;212;p21"/>
          <p:cNvSpPr/>
          <p:nvPr/>
        </p:nvSpPr>
        <p:spPr>
          <a:xfrm>
            <a:off x="1738745" y="54102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</a:t>
            </a:r>
            <a:endParaRPr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1738745" y="58674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índices</a:t>
            </a:r>
            <a:endParaRPr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Exemplo: acesso ao vetor usando índices (2/5)</a:t>
            </a:r>
            <a:endParaRPr/>
          </a:p>
        </p:txBody>
      </p:sp>
      <p:sp>
        <p:nvSpPr>
          <p:cNvPr id="219" name="Google Shape;219;p22"/>
          <p:cNvSpPr txBox="1"/>
          <p:nvPr>
            <p:ph idx="1" type="body"/>
          </p:nvPr>
        </p:nvSpPr>
        <p:spPr>
          <a:xfrm>
            <a:off x="457200" y="1600202"/>
            <a:ext cx="8229600" cy="3581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int v[10];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v[0] = -1;</a:t>
            </a: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9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Atribui -1 ao índice 0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/>
          </a:p>
        </p:txBody>
      </p:sp>
      <p:sp>
        <p:nvSpPr>
          <p:cNvPr id="220" name="Google Shape;220;p2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28194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28194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32766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32766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37338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37338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41910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41910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46482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46482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51054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1054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55626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55626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60198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60198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37" name="Google Shape;237;p22"/>
          <p:cNvSpPr/>
          <p:nvPr/>
        </p:nvSpPr>
        <p:spPr>
          <a:xfrm>
            <a:off x="64770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64770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69342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69342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41" name="Google Shape;241;p22"/>
          <p:cNvSpPr/>
          <p:nvPr/>
        </p:nvSpPr>
        <p:spPr>
          <a:xfrm>
            <a:off x="1738745" y="54102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</a:t>
            </a:r>
            <a:endParaRPr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1738745" y="58674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índices</a:t>
            </a:r>
            <a:endParaRPr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Exemplo: acesso ao vetor usando índices (3/5)</a:t>
            </a:r>
            <a:endParaRPr/>
          </a:p>
        </p:txBody>
      </p:sp>
      <p:sp>
        <p:nvSpPr>
          <p:cNvPr id="248" name="Google Shape;248;p23"/>
          <p:cNvSpPr txBox="1"/>
          <p:nvPr>
            <p:ph idx="1" type="body"/>
          </p:nvPr>
        </p:nvSpPr>
        <p:spPr>
          <a:xfrm>
            <a:off x="457200" y="1600202"/>
            <a:ext cx="8229600" cy="3581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int v[10];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v[0] = -1; </a:t>
            </a:r>
            <a:r>
              <a:rPr b="1" lang="pt-BR" sz="19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Atribui -1 ao índice 0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v[2] = 0;</a:t>
            </a: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pt-BR" sz="19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Atribui 0 ao índice 2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/>
          </a:p>
        </p:txBody>
      </p:sp>
      <p:sp>
        <p:nvSpPr>
          <p:cNvPr id="249" name="Google Shape;249;p2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28194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28194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32766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32766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37338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37338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41910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41910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46482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46482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51054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51054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55626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55626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60198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60198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64770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64770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69342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69342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1738745" y="54102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</a:t>
            </a:r>
            <a:endParaRPr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1738745" y="58674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índices</a:t>
            </a:r>
            <a:endParaRPr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Exemplo: acesso ao vetor usando índices (4/5)</a:t>
            </a:r>
            <a:endParaRPr/>
          </a:p>
        </p:txBody>
      </p:sp>
      <p:sp>
        <p:nvSpPr>
          <p:cNvPr id="277" name="Google Shape;277;p24"/>
          <p:cNvSpPr txBox="1"/>
          <p:nvPr>
            <p:ph idx="1" type="body"/>
          </p:nvPr>
        </p:nvSpPr>
        <p:spPr>
          <a:xfrm>
            <a:off x="457200" y="1600202"/>
            <a:ext cx="8229600" cy="3581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int v[10];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v[0] = -1; </a:t>
            </a:r>
            <a:r>
              <a:rPr b="1" lang="pt-BR" sz="19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Atribui -1 ao índice 0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v[2] = 0;  </a:t>
            </a:r>
            <a:r>
              <a:rPr b="1" lang="pt-BR" sz="19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Atribui 0 ao índice 2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v[7] = 12;</a:t>
            </a: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9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Atribui 12 ao índice 7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/>
          </a:p>
        </p:txBody>
      </p:sp>
      <p:sp>
        <p:nvSpPr>
          <p:cNvPr id="278" name="Google Shape;278;p2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28194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28194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32766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32766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37338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37338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41910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41910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46482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/>
          <p:nvPr/>
        </p:nvSpPr>
        <p:spPr>
          <a:xfrm>
            <a:off x="46482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4"/>
          <p:cNvSpPr/>
          <p:nvPr/>
        </p:nvSpPr>
        <p:spPr>
          <a:xfrm>
            <a:off x="51054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51054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55626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55626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93" name="Google Shape;293;p24"/>
          <p:cNvSpPr/>
          <p:nvPr/>
        </p:nvSpPr>
        <p:spPr>
          <a:xfrm>
            <a:off x="60198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60198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95" name="Google Shape;295;p24"/>
          <p:cNvSpPr/>
          <p:nvPr/>
        </p:nvSpPr>
        <p:spPr>
          <a:xfrm>
            <a:off x="64770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64770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>
            <a:off x="69342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>
            <a:off x="69342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99" name="Google Shape;299;p24"/>
          <p:cNvSpPr/>
          <p:nvPr/>
        </p:nvSpPr>
        <p:spPr>
          <a:xfrm>
            <a:off x="1738745" y="54102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</a:t>
            </a:r>
            <a:endParaRPr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1738745" y="58674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índices</a:t>
            </a:r>
            <a:endParaRPr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Exemplo: acesso ao vetor usando índices (5/5)</a:t>
            </a:r>
            <a:endParaRPr/>
          </a:p>
        </p:txBody>
      </p:sp>
      <p:sp>
        <p:nvSpPr>
          <p:cNvPr id="306" name="Google Shape;306;p25"/>
          <p:cNvSpPr txBox="1"/>
          <p:nvPr>
            <p:ph idx="1" type="body"/>
          </p:nvPr>
        </p:nvSpPr>
        <p:spPr>
          <a:xfrm>
            <a:off x="457200" y="1600202"/>
            <a:ext cx="8229600" cy="35813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int v[10];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v[0] = -1; </a:t>
            </a:r>
            <a:r>
              <a:rPr b="1" lang="pt-BR" sz="19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Atribui -1 ao índice 0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v[2] = 0;  </a:t>
            </a:r>
            <a:r>
              <a:rPr b="1" lang="pt-BR" sz="19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Atribui 0 ao índice 2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v[7] = 12; </a:t>
            </a:r>
            <a:r>
              <a:rPr b="1" lang="pt-BR" sz="19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Atribui 12 ao índice 7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int x = 3;</a:t>
            </a:r>
            <a:endParaRPr sz="1900"/>
          </a:p>
          <a:p>
            <a:pPr indent="0" lvl="0" marL="0" rtl="0" algn="l">
              <a:lnSpc>
                <a:spcPct val="115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1900"/>
          </a:p>
          <a:p>
            <a:pPr indent="0" lvl="0" marL="0" rtl="0" algn="l">
              <a:spcBef>
                <a:spcPts val="380"/>
              </a:spcBef>
              <a:spcAft>
                <a:spcPts val="0"/>
              </a:spcAft>
              <a:buClr>
                <a:srgbClr val="FF0000"/>
              </a:buClr>
              <a:buSzPts val="1900"/>
              <a:buNone/>
            </a:pPr>
            <a:r>
              <a:rPr b="1" lang="pt-BR" sz="19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v[9] = x + 1;</a:t>
            </a:r>
            <a:r>
              <a:rPr b="1" lang="pt-BR" sz="19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pt-BR" sz="19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Atribui 4 ao índice 9</a:t>
            </a:r>
            <a:endParaRPr sz="1900"/>
          </a:p>
        </p:txBody>
      </p:sp>
      <p:sp>
        <p:nvSpPr>
          <p:cNvPr id="307" name="Google Shape;307;p2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28194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28194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10" name="Google Shape;310;p25"/>
          <p:cNvSpPr/>
          <p:nvPr/>
        </p:nvSpPr>
        <p:spPr>
          <a:xfrm>
            <a:off x="32766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32766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37338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37338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41910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41910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16" name="Google Shape;316;p25"/>
          <p:cNvSpPr/>
          <p:nvPr/>
        </p:nvSpPr>
        <p:spPr>
          <a:xfrm>
            <a:off x="46482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46482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51054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51054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20" name="Google Shape;320;p25"/>
          <p:cNvSpPr/>
          <p:nvPr/>
        </p:nvSpPr>
        <p:spPr>
          <a:xfrm>
            <a:off x="55626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55626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60198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60198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24" name="Google Shape;324;p25"/>
          <p:cNvSpPr/>
          <p:nvPr/>
        </p:nvSpPr>
        <p:spPr>
          <a:xfrm>
            <a:off x="64770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64770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6934200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6934200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328" name="Google Shape;328;p25"/>
          <p:cNvSpPr/>
          <p:nvPr/>
        </p:nvSpPr>
        <p:spPr>
          <a:xfrm>
            <a:off x="1738745" y="54102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</a:t>
            </a:r>
            <a:endParaRPr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1738745" y="58674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índices</a:t>
            </a:r>
            <a:endParaRPr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Considerações sobre o Exemplo</a:t>
            </a:r>
            <a:endParaRPr/>
          </a:p>
        </p:txBody>
      </p:sp>
      <p:sp>
        <p:nvSpPr>
          <p:cNvPr id="335" name="Google Shape;335;p26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pt-BR" sz="2500"/>
              <a:t>Não é a forma como os índices são utilizados na prática!</a:t>
            </a:r>
            <a:endParaRPr sz="2500"/>
          </a:p>
          <a:p>
            <a:pPr indent="-184150" lvl="0" marL="3429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/>
          </a:p>
        </p:txBody>
      </p:sp>
      <p:sp>
        <p:nvSpPr>
          <p:cNvPr id="336" name="Google Shape;336;p2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Considerações sobre o Exemplo</a:t>
            </a:r>
            <a:endParaRPr/>
          </a:p>
        </p:txBody>
      </p:sp>
      <p:sp>
        <p:nvSpPr>
          <p:cNvPr id="342" name="Google Shape;342;p27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pt-BR" sz="2500"/>
              <a:t>Não é a forma como os índices são utilizados na prática!</a:t>
            </a:r>
            <a:endParaRPr sz="2500"/>
          </a:p>
          <a:p>
            <a:pPr indent="-184150" lvl="0" marL="3429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/>
          </a:p>
          <a:p>
            <a:pPr indent="-342900" lvl="0" marL="3429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pt-BR" sz="2500"/>
              <a:t>Um vetor pode ter centenas ou milhares de valores: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pt-BR" sz="2200"/>
              <a:t>O acesso individual a cada índice torna-se inviável;</a:t>
            </a:r>
            <a:endParaRPr/>
          </a:p>
          <a:p>
            <a:pPr indent="-184150" lvl="0" marL="3429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/>
          </a:p>
        </p:txBody>
      </p:sp>
      <p:sp>
        <p:nvSpPr>
          <p:cNvPr id="343" name="Google Shape;343;p2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Considerações sobre o Exemplo</a:t>
            </a:r>
            <a:endParaRPr/>
          </a:p>
        </p:txBody>
      </p:sp>
      <p:sp>
        <p:nvSpPr>
          <p:cNvPr id="349" name="Google Shape;349;p28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pt-BR" sz="2500"/>
              <a:t>Não é a forma como os índices são utilizados na prática!</a:t>
            </a:r>
            <a:endParaRPr sz="2500"/>
          </a:p>
          <a:p>
            <a:pPr indent="-184150" lvl="0" marL="3429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/>
          </a:p>
          <a:p>
            <a:pPr indent="-342900" lvl="0" marL="3429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pt-BR" sz="2500"/>
              <a:t>Um vetor pode ter centenas ou milhares de valores: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pt-BR" sz="2200"/>
              <a:t>O acesso individual a cada índice torna-se inviável;</a:t>
            </a:r>
            <a:endParaRPr sz="2200"/>
          </a:p>
          <a:p>
            <a:pPr indent="-184150" lvl="0" marL="3429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/>
          </a:p>
          <a:p>
            <a:pPr indent="-342900" lvl="0" marL="3429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pt-BR" sz="2500"/>
              <a:t>Na prática, os valores dos índices são armazenados em uma variável, percorrendo de </a:t>
            </a:r>
            <a:r>
              <a:rPr i="1" lang="pt-BR" sz="2500"/>
              <a:t>0</a:t>
            </a:r>
            <a:r>
              <a:rPr lang="pt-BR" sz="2500"/>
              <a:t> até </a:t>
            </a:r>
            <a:r>
              <a:rPr i="1" lang="pt-BR" sz="2500"/>
              <a:t>capacidade-1</a:t>
            </a:r>
            <a:r>
              <a:rPr lang="pt-BR" sz="2500"/>
              <a:t>;</a:t>
            </a:r>
            <a:endParaRPr/>
          </a:p>
          <a:p>
            <a:pPr indent="-184150" lvl="0" marL="3429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/>
          </a:p>
        </p:txBody>
      </p:sp>
      <p:sp>
        <p:nvSpPr>
          <p:cNvPr id="350" name="Google Shape;350;p2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Considerações sobre o Exemplo</a:t>
            </a:r>
            <a:endParaRPr/>
          </a:p>
        </p:txBody>
      </p:sp>
      <p:sp>
        <p:nvSpPr>
          <p:cNvPr id="356" name="Google Shape;356;p29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pt-BR" sz="2500"/>
              <a:t>Não é a forma como os índices são utilizados na prática!</a:t>
            </a:r>
            <a:endParaRPr sz="2500"/>
          </a:p>
          <a:p>
            <a:pPr indent="-184150" lvl="0" marL="3429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/>
          </a:p>
          <a:p>
            <a:pPr indent="-342900" lvl="0" marL="3429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pt-BR" sz="2500"/>
              <a:t>Um vetor pode ter centenas ou milhares de valores: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pt-BR" sz="2200"/>
              <a:t>O acesso individual a cada índice torna-se inviável;</a:t>
            </a:r>
            <a:endParaRPr sz="2200"/>
          </a:p>
          <a:p>
            <a:pPr indent="-184150" lvl="0" marL="3429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/>
          </a:p>
          <a:p>
            <a:pPr indent="-342900" lvl="0" marL="3429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pt-BR" sz="2500"/>
              <a:t>Na prática, os valores dos índices são armazenados em uma variável, percorrendo de </a:t>
            </a:r>
            <a:r>
              <a:rPr i="1" lang="pt-BR" sz="2500"/>
              <a:t>0</a:t>
            </a:r>
            <a:r>
              <a:rPr lang="pt-BR" sz="2500"/>
              <a:t> até </a:t>
            </a:r>
            <a:r>
              <a:rPr i="1" lang="pt-BR" sz="2500"/>
              <a:t>capacidade-1</a:t>
            </a:r>
            <a:r>
              <a:rPr lang="pt-BR" sz="2500"/>
              <a:t>;</a:t>
            </a:r>
            <a:endParaRPr/>
          </a:p>
          <a:p>
            <a:pPr indent="-184150" lvl="0" marL="3429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/>
          </a:p>
          <a:p>
            <a:pPr indent="-342900" lvl="0" marL="3429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pt-BR" sz="2500"/>
              <a:t>Com isso, é possível fazer qualquer tipo de manipulação: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pt-BR" sz="2200"/>
              <a:t>Entrada, saída, busca, ordenação, etc.</a:t>
            </a:r>
            <a:endParaRPr/>
          </a:p>
        </p:txBody>
      </p:sp>
      <p:sp>
        <p:nvSpPr>
          <p:cNvPr id="357" name="Google Shape;357;p2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Exemplo: entrada e saída (1/5)</a:t>
            </a:r>
            <a:endParaRPr/>
          </a:p>
        </p:txBody>
      </p:sp>
      <p:sp>
        <p:nvSpPr>
          <p:cNvPr id="363" name="Google Shape;363;p30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v[10]; </a:t>
            </a:r>
            <a:r>
              <a:rPr b="1" lang="pt-BR" sz="20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Vetor de capacidade 10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i;     </a:t>
            </a:r>
            <a:r>
              <a:rPr b="1" lang="pt-BR" sz="20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Variável para percorrer os índices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64" name="Google Shape;364;p3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Exemplo: entrada e saída (2/5)</a:t>
            </a:r>
            <a:endParaRPr/>
          </a:p>
        </p:txBody>
      </p:sp>
      <p:sp>
        <p:nvSpPr>
          <p:cNvPr id="370" name="Google Shape;370;p31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v[10]; </a:t>
            </a:r>
            <a:r>
              <a:rPr b="1" lang="pt-BR" sz="20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Vetor de capacidade 10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i;     </a:t>
            </a:r>
            <a:r>
              <a:rPr b="1" lang="pt-BR" sz="20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Variável para percorrer os índices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for(</a:t>
            </a: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 = 0; i &lt; 10; i++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){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71" name="Google Shape;371;p3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Exemplo: entrada e saída (3/5)</a:t>
            </a:r>
            <a:endParaRPr/>
          </a:p>
        </p:txBody>
      </p:sp>
      <p:sp>
        <p:nvSpPr>
          <p:cNvPr id="377" name="Google Shape;377;p32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v[10]; </a:t>
            </a:r>
            <a:r>
              <a:rPr b="1" lang="pt-BR" sz="20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Vetor de capacidade 10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i;     </a:t>
            </a:r>
            <a:r>
              <a:rPr b="1" lang="pt-BR" sz="20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Variável para percorrer os índices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for(i = 0; i &lt; 10; i++){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printf("Digite o </a:t>
            </a: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%d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º valor: ", </a:t>
            </a: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 + 1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);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78" name="Google Shape;378;p3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Exemplo: entrada e saída (4/5)</a:t>
            </a:r>
            <a:endParaRPr/>
          </a:p>
        </p:txBody>
      </p:sp>
      <p:sp>
        <p:nvSpPr>
          <p:cNvPr id="384" name="Google Shape;384;p33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v[10]; </a:t>
            </a:r>
            <a:r>
              <a:rPr b="1" lang="pt-BR" sz="20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Vetor de capacidade 10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i;     </a:t>
            </a:r>
            <a:r>
              <a:rPr b="1" lang="pt-BR" sz="20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Variável para percorrer os índices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for(i = 0; i &lt; 10; i++){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printf("Digite o %dº valor: ", i + 1 );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scanf("%d", </a:t>
            </a: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&amp;v[i]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b="1" lang="pt-BR" sz="20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Entrada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385" name="Google Shape;385;p3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Exemplo: entrada e saída (5/5)</a:t>
            </a:r>
            <a:endParaRPr/>
          </a:p>
        </p:txBody>
      </p:sp>
      <p:sp>
        <p:nvSpPr>
          <p:cNvPr id="391" name="Google Shape;391;p34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v[10]; </a:t>
            </a:r>
            <a:r>
              <a:rPr b="1" lang="pt-BR" sz="20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Vetor de capacidade 10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int i;     </a:t>
            </a:r>
            <a:r>
              <a:rPr b="1" lang="pt-BR" sz="20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Variável para percorrer os índices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for(i = 0; i &lt; 10; i++){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printf("Digite o %dº valor: ", i + 1 );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scanf("%d", &amp;v[i]); </a:t>
            </a:r>
            <a:r>
              <a:rPr b="1" lang="pt-BR" sz="20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Entrada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 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for(i = 0; i &lt; 10; i++){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 printf("</a:t>
            </a: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%d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 : </a:t>
            </a: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%d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\n", </a:t>
            </a: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v[i]</a:t>
            </a: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); </a:t>
            </a:r>
            <a:r>
              <a:rPr b="1" lang="pt-BR" sz="2000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Saída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pt-BR" sz="20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000"/>
          </a:p>
        </p:txBody>
      </p:sp>
      <p:sp>
        <p:nvSpPr>
          <p:cNvPr id="392" name="Google Shape;392;p3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Considerações</a:t>
            </a:r>
            <a:endParaRPr/>
          </a:p>
        </p:txBody>
      </p:sp>
      <p:sp>
        <p:nvSpPr>
          <p:cNvPr id="398" name="Google Shape;398;p35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O exemplo é muito simples;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Porém, mostra a rotina básica de entrada e saída para qualquer vetor: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com as devidas adaptações de </a:t>
            </a:r>
            <a:r>
              <a:rPr i="1" lang="pt-BR"/>
              <a:t>tipos</a:t>
            </a:r>
            <a:r>
              <a:rPr lang="pt-BR"/>
              <a:t>, </a:t>
            </a:r>
            <a:r>
              <a:rPr i="1" lang="pt-BR"/>
              <a:t>formatos</a:t>
            </a:r>
            <a:r>
              <a:rPr lang="pt-BR"/>
              <a:t> e </a:t>
            </a:r>
            <a:r>
              <a:rPr i="1" lang="pt-BR"/>
              <a:t>capacidades</a:t>
            </a:r>
            <a:r>
              <a:rPr lang="pt-BR"/>
              <a:t>.</a:t>
            </a:r>
            <a:endParaRPr/>
          </a:p>
        </p:txBody>
      </p:sp>
      <p:sp>
        <p:nvSpPr>
          <p:cNvPr id="399" name="Google Shape;399;p3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Exemplo prático: limite do vetor</a:t>
            </a:r>
            <a:endParaRPr/>
          </a:p>
        </p:txBody>
      </p:sp>
      <p:sp>
        <p:nvSpPr>
          <p:cNvPr id="405" name="Google Shape;405;p36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Troque a condição de parada do 2º </a:t>
            </a:r>
            <a:r>
              <a:rPr i="1" lang="pt-BR" sz="3000"/>
              <a:t>for</a:t>
            </a:r>
            <a:r>
              <a:rPr lang="pt-BR" sz="3000"/>
              <a:t> (</a:t>
            </a:r>
            <a:r>
              <a:rPr b="1" lang="pt-BR" sz="3000">
                <a:solidFill>
                  <a:srgbClr val="FF0000"/>
                </a:solidFill>
              </a:rPr>
              <a:t>i &lt; 10</a:t>
            </a:r>
            <a:r>
              <a:rPr lang="pt-BR" sz="3000"/>
              <a:t>) por </a:t>
            </a:r>
            <a:r>
              <a:rPr b="1" lang="pt-BR" sz="3000">
                <a:solidFill>
                  <a:srgbClr val="FF0000"/>
                </a:solidFill>
              </a:rPr>
              <a:t>i &lt; 1000</a:t>
            </a:r>
            <a:r>
              <a:rPr lang="pt-BR" sz="3000"/>
              <a:t>;</a:t>
            </a:r>
            <a:endParaRPr/>
          </a:p>
          <a:p>
            <a:pPr indent="-1524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/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Analise a execução do programa.</a:t>
            </a:r>
            <a:endParaRPr/>
          </a:p>
        </p:txBody>
      </p:sp>
      <p:sp>
        <p:nvSpPr>
          <p:cNvPr id="406" name="Google Shape;406;p3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Exemplo prático: limite do vetor</a:t>
            </a:r>
            <a:endParaRPr/>
          </a:p>
        </p:txBody>
      </p:sp>
      <p:sp>
        <p:nvSpPr>
          <p:cNvPr id="412" name="Google Shape;412;p37"/>
          <p:cNvSpPr txBox="1"/>
          <p:nvPr>
            <p:ph idx="1" type="body"/>
          </p:nvPr>
        </p:nvSpPr>
        <p:spPr>
          <a:xfrm>
            <a:off x="457200" y="1600201"/>
            <a:ext cx="8229600" cy="2514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Troque a condição de parada do 2º </a:t>
            </a:r>
            <a:r>
              <a:rPr i="1" lang="pt-BR" sz="3000"/>
              <a:t>for</a:t>
            </a:r>
            <a:r>
              <a:rPr lang="pt-BR" sz="3000"/>
              <a:t> (</a:t>
            </a:r>
            <a:r>
              <a:rPr b="1" lang="pt-BR" sz="3000">
                <a:solidFill>
                  <a:srgbClr val="FF0000"/>
                </a:solidFill>
              </a:rPr>
              <a:t>i &lt; 10</a:t>
            </a:r>
            <a:r>
              <a:rPr lang="pt-BR" sz="3000"/>
              <a:t>) por </a:t>
            </a:r>
            <a:r>
              <a:rPr b="1" lang="pt-BR" sz="3000">
                <a:solidFill>
                  <a:srgbClr val="FF0000"/>
                </a:solidFill>
              </a:rPr>
              <a:t>i &lt; 1000</a:t>
            </a:r>
            <a:r>
              <a:rPr lang="pt-BR" sz="3000"/>
              <a:t>;</a:t>
            </a:r>
            <a:endParaRPr/>
          </a:p>
          <a:p>
            <a:pPr indent="-1524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/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Analise a execução do programa.</a:t>
            </a:r>
            <a:endParaRPr/>
          </a:p>
        </p:txBody>
      </p:sp>
      <p:sp>
        <p:nvSpPr>
          <p:cNvPr id="413" name="Google Shape;413;p3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4" name="Google Shape;414;p37"/>
          <p:cNvSpPr/>
          <p:nvPr/>
        </p:nvSpPr>
        <p:spPr>
          <a:xfrm>
            <a:off x="685800" y="4038600"/>
            <a:ext cx="7696200" cy="2057400"/>
          </a:xfrm>
          <a:prstGeom prst="rect">
            <a:avLst/>
          </a:prstGeom>
          <a:solidFill>
            <a:schemeClr val="lt2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 esperado que alguns valores além do vetor sejam acessados na memória.</a:t>
            </a:r>
            <a:endParaRPr/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Porém, o programa trava em algum momento (acesso indevido à memória).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Atribuição de valores na declaração (1)</a:t>
            </a:r>
            <a:endParaRPr/>
          </a:p>
        </p:txBody>
      </p:sp>
      <p:sp>
        <p:nvSpPr>
          <p:cNvPr id="420" name="Google Shape;420;p38"/>
          <p:cNvSpPr txBox="1"/>
          <p:nvPr>
            <p:ph idx="1" type="body"/>
          </p:nvPr>
        </p:nvSpPr>
        <p:spPr>
          <a:xfrm>
            <a:off x="457200" y="1600201"/>
            <a:ext cx="8229600" cy="3505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Vetores podem ser inicializados na sua declaração;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421" name="Google Shape;421;p3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9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Atribuição de valores na declaração (1)</a:t>
            </a:r>
            <a:endParaRPr/>
          </a:p>
        </p:txBody>
      </p:sp>
      <p:sp>
        <p:nvSpPr>
          <p:cNvPr id="427" name="Google Shape;427;p39"/>
          <p:cNvSpPr txBox="1"/>
          <p:nvPr>
            <p:ph idx="1" type="body"/>
          </p:nvPr>
        </p:nvSpPr>
        <p:spPr>
          <a:xfrm>
            <a:off x="457200" y="1600201"/>
            <a:ext cx="8229600" cy="3505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Vetores podem ser inicializados na sua declaração;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Exemplo: vetor de capacidade 5 já inicializado: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float v[5] = {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3.5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8" name="Google Shape;428;p39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0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Atribuição de valores na declaração (1)</a:t>
            </a:r>
            <a:endParaRPr/>
          </a:p>
        </p:txBody>
      </p:sp>
      <p:sp>
        <p:nvSpPr>
          <p:cNvPr id="434" name="Google Shape;434;p40"/>
          <p:cNvSpPr txBox="1"/>
          <p:nvPr>
            <p:ph idx="1" type="body"/>
          </p:nvPr>
        </p:nvSpPr>
        <p:spPr>
          <a:xfrm>
            <a:off x="457200" y="1600201"/>
            <a:ext cx="8229600" cy="3505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Vetores podem ser inicializados na sua declaração;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Exemplo: vetor de capacidade 5 já inicializado: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float v[5] = {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3.5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5" name="Google Shape;435;p40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6" name="Google Shape;436;p40"/>
          <p:cNvSpPr/>
          <p:nvPr/>
        </p:nvSpPr>
        <p:spPr>
          <a:xfrm>
            <a:off x="3823855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3.5</a:t>
            </a:r>
            <a:endParaRPr sz="17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40"/>
          <p:cNvSpPr/>
          <p:nvPr/>
        </p:nvSpPr>
        <p:spPr>
          <a:xfrm>
            <a:off x="3823855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38" name="Google Shape;438;p40"/>
          <p:cNvSpPr/>
          <p:nvPr/>
        </p:nvSpPr>
        <p:spPr>
          <a:xfrm>
            <a:off x="4281055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40"/>
          <p:cNvSpPr/>
          <p:nvPr/>
        </p:nvSpPr>
        <p:spPr>
          <a:xfrm>
            <a:off x="4281055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0"/>
          <p:cNvSpPr/>
          <p:nvPr/>
        </p:nvSpPr>
        <p:spPr>
          <a:xfrm>
            <a:off x="4738255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41" name="Google Shape;441;p40"/>
          <p:cNvSpPr/>
          <p:nvPr/>
        </p:nvSpPr>
        <p:spPr>
          <a:xfrm>
            <a:off x="4738255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0"/>
          <p:cNvSpPr/>
          <p:nvPr/>
        </p:nvSpPr>
        <p:spPr>
          <a:xfrm>
            <a:off x="5195455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40"/>
          <p:cNvSpPr/>
          <p:nvPr/>
        </p:nvSpPr>
        <p:spPr>
          <a:xfrm>
            <a:off x="5195455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44" name="Google Shape;444;p40"/>
          <p:cNvSpPr/>
          <p:nvPr/>
        </p:nvSpPr>
        <p:spPr>
          <a:xfrm>
            <a:off x="5652655" y="5410200"/>
            <a:ext cx="457200" cy="4572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0"/>
          <p:cNvSpPr/>
          <p:nvPr/>
        </p:nvSpPr>
        <p:spPr>
          <a:xfrm>
            <a:off x="5652655" y="58674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0"/>
          <p:cNvSpPr/>
          <p:nvPr/>
        </p:nvSpPr>
        <p:spPr>
          <a:xfrm>
            <a:off x="2743200" y="54102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valores</a:t>
            </a:r>
            <a:endParaRPr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0"/>
          <p:cNvSpPr/>
          <p:nvPr/>
        </p:nvSpPr>
        <p:spPr>
          <a:xfrm>
            <a:off x="2743200" y="5867400"/>
            <a:ext cx="100445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índices</a:t>
            </a:r>
            <a:endParaRPr i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1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Atribuição de valores na declaração (2)</a:t>
            </a:r>
            <a:endParaRPr/>
          </a:p>
        </p:txBody>
      </p:sp>
      <p:sp>
        <p:nvSpPr>
          <p:cNvPr id="453" name="Google Shape;453;p41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É possivel omitir a capacidade, caso o vetor seja inicializado;</a:t>
            </a:r>
            <a:endParaRPr/>
          </a:p>
          <a:p>
            <a:pPr indent="-1524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/>
          </a:p>
          <a:p>
            <a:pPr indent="-1524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/>
          </a:p>
        </p:txBody>
      </p:sp>
      <p:sp>
        <p:nvSpPr>
          <p:cNvPr id="454" name="Google Shape;454;p41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2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Atribuição de valores na declaração (2)</a:t>
            </a:r>
            <a:endParaRPr/>
          </a:p>
        </p:txBody>
      </p:sp>
      <p:sp>
        <p:nvSpPr>
          <p:cNvPr id="460" name="Google Shape;460;p42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É possivel omitir a capacidade, caso o vetor seja inicializado;</a:t>
            </a:r>
            <a:endParaRPr/>
          </a:p>
          <a:p>
            <a:pPr indent="-1524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/>
          </a:p>
          <a:p>
            <a:pPr indent="-3429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</a:pPr>
            <a:r>
              <a:rPr lang="pt-BR" sz="3000"/>
              <a:t>Neste caso, a capacidade é definida implicitamente pelo compilador;</a:t>
            </a:r>
            <a:endParaRPr sz="3000"/>
          </a:p>
          <a:p>
            <a:pPr indent="-152400" lvl="0" marL="3429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/>
          </a:p>
        </p:txBody>
      </p:sp>
      <p:sp>
        <p:nvSpPr>
          <p:cNvPr id="461" name="Google Shape;461;p42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3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Atribuição de valores na declaração (2)</a:t>
            </a:r>
            <a:endParaRPr/>
          </a:p>
        </p:txBody>
      </p:sp>
      <p:sp>
        <p:nvSpPr>
          <p:cNvPr id="467" name="Google Shape;467;p43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É possivel omitir a capacidade, caso o vetor seja inicializado;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Neste caso, a capacidade é definida implicitamente pelo compilador;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/>
              <a:t>Exemplo: vetor de capacidade 8 definida implicitamente: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int vet[] = {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14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8" name="Google Shape;468;p43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4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/>
              <a:t>Atribuição de valores na declaração (3)</a:t>
            </a:r>
            <a:endParaRPr/>
          </a:p>
        </p:txBody>
      </p:sp>
      <p:sp>
        <p:nvSpPr>
          <p:cNvPr id="474" name="Google Shape;474;p44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Vetores de caracteres (</a:t>
            </a:r>
            <a:r>
              <a:rPr i="1" lang="pt-BR"/>
              <a:t>strings</a:t>
            </a:r>
            <a:r>
              <a:rPr lang="pt-BR"/>
              <a:t>) podem ser inicializados de duas formas: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char nome1[] = {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‘M’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‘a’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‘r’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‘i’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‘a’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char nome2[] = </a:t>
            </a:r>
            <a:r>
              <a:rPr b="1" lang="pt-BR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“Maria”</a:t>
            </a:r>
            <a:r>
              <a:rPr b="1" lang="pt-BR" sz="2400"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>
              <a:latin typeface="Courier New"/>
              <a:ea typeface="Courier New"/>
              <a:cs typeface="Courier New"/>
              <a:sym typeface="Courier New"/>
            </a:endParaRPr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475" name="Google Shape;475;p44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5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Mais exemplos práticos</a:t>
            </a:r>
            <a:endParaRPr/>
          </a:p>
        </p:txBody>
      </p:sp>
      <p:sp>
        <p:nvSpPr>
          <p:cNvPr id="481" name="Google Shape;481;p45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Determinar o menor valor de um vetor;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482" name="Google Shape;482;p45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6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Mais exemplos práticos</a:t>
            </a:r>
            <a:endParaRPr/>
          </a:p>
        </p:txBody>
      </p:sp>
      <p:sp>
        <p:nvSpPr>
          <p:cNvPr id="488" name="Google Shape;488;p46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Determinar o menor valor de um vetor;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Determinar o menor valor de um vetor </a:t>
            </a:r>
            <a:r>
              <a:rPr lang="pt-BR">
                <a:solidFill>
                  <a:srgbClr val="FF0000"/>
                </a:solidFill>
              </a:rPr>
              <a:t>e o seu índice</a:t>
            </a:r>
            <a:r>
              <a:rPr lang="pt-BR"/>
              <a:t>;</a:t>
            </a:r>
            <a:endParaRPr/>
          </a:p>
        </p:txBody>
      </p:sp>
      <p:sp>
        <p:nvSpPr>
          <p:cNvPr id="489" name="Google Shape;489;p46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7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Mais exemplos práticos</a:t>
            </a:r>
            <a:endParaRPr/>
          </a:p>
        </p:txBody>
      </p:sp>
      <p:sp>
        <p:nvSpPr>
          <p:cNvPr id="495" name="Google Shape;495;p47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Determinar o menor valor de um vetor;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Determinar o menor valor de um vetor </a:t>
            </a:r>
            <a:r>
              <a:rPr lang="pt-BR">
                <a:solidFill>
                  <a:srgbClr val="FF0000"/>
                </a:solidFill>
              </a:rPr>
              <a:t>e o seu índice</a:t>
            </a:r>
            <a:r>
              <a:rPr lang="pt-BR"/>
              <a:t>;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Ordenar os valores de um vetor usando o método da Seleção (</a:t>
            </a:r>
            <a:r>
              <a:rPr i="1" lang="pt-BR">
                <a:solidFill>
                  <a:srgbClr val="205867"/>
                </a:solidFill>
              </a:rPr>
              <a:t>SelectionSort</a:t>
            </a:r>
            <a:r>
              <a:rPr lang="pt-BR"/>
              <a:t>).</a:t>
            </a:r>
            <a:endParaRPr/>
          </a:p>
        </p:txBody>
      </p:sp>
      <p:sp>
        <p:nvSpPr>
          <p:cNvPr id="496" name="Google Shape;496;p47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8"/>
          <p:cNvSpPr txBox="1"/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/>
              <a:t>Exercício em aula</a:t>
            </a:r>
            <a:endParaRPr/>
          </a:p>
        </p:txBody>
      </p:sp>
      <p:sp>
        <p:nvSpPr>
          <p:cNvPr id="502" name="Google Shape;502;p48"/>
          <p:cNvSpPr txBox="1"/>
          <p:nvPr>
            <p:ph idx="1" type="body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pt-BR"/>
              <a:t>Faça um programa que lê 10 valores e os armazena em um vetor (</a:t>
            </a:r>
            <a:r>
              <a:rPr i="1" lang="pt-BR"/>
              <a:t>float</a:t>
            </a:r>
            <a:r>
              <a:rPr lang="pt-BR"/>
              <a:t>). Em seguida, mostre na tela: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O maior valor;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A média dos valores;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pt-BR"/>
              <a:t>Quais valores estão acima da média.</a:t>
            </a:r>
            <a:endParaRPr/>
          </a:p>
        </p:txBody>
      </p:sp>
      <p:sp>
        <p:nvSpPr>
          <p:cNvPr id="503" name="Google Shape;503;p48"/>
          <p:cNvSpPr txBox="1"/>
          <p:nvPr>
            <p:ph idx="12" type="sldNum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