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AGT0001 – Algoritmos</a:t>
            </a:r>
            <a:br>
              <a:rPr lang="pt-BR" sz="3600"/>
            </a:br>
            <a:br>
              <a:rPr lang="pt-BR" sz="3600"/>
            </a:br>
            <a:r>
              <a:rPr lang="pt-BR" sz="3600"/>
              <a:t>Vetores, Algoritmos de Busca</a:t>
            </a:r>
            <a:br>
              <a:rPr lang="pt-BR" sz="3600"/>
            </a:br>
            <a:endParaRPr sz="3600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Prof. Douglas Dutra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Departamento de Ciência da Computação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UDESC / Joinville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em um vetor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Dados um vetor e um valor a ser buscado (</a:t>
            </a:r>
            <a:r>
              <a:rPr i="1" lang="pt-BR"/>
              <a:t>chave</a:t>
            </a:r>
            <a:r>
              <a:rPr lang="pt-BR"/>
              <a:t> de busca), o algoritmo deve informar: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em um vetor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Dados um vetor e um valor a ser buscado (</a:t>
            </a:r>
            <a:r>
              <a:rPr i="1" lang="pt-BR"/>
              <a:t>chave</a:t>
            </a:r>
            <a:r>
              <a:rPr lang="pt-BR"/>
              <a:t> de busca), o algoritmo deve informar: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quais o(s) índice(s) onde a </a:t>
            </a:r>
            <a:r>
              <a:rPr i="1" lang="pt-BR"/>
              <a:t>chave</a:t>
            </a:r>
            <a:r>
              <a:rPr lang="pt-BR"/>
              <a:t> se encontra; ou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em um vetor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Dados um vetor e um valor a ser buscado (</a:t>
            </a:r>
            <a:r>
              <a:rPr i="1" lang="pt-BR"/>
              <a:t>chave</a:t>
            </a:r>
            <a:r>
              <a:rPr lang="pt-BR"/>
              <a:t> de busca), o algoritmo deve informar: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quais o(s) índice(s) onde a </a:t>
            </a:r>
            <a:r>
              <a:rPr i="1" lang="pt-BR"/>
              <a:t>chave</a:t>
            </a:r>
            <a:r>
              <a:rPr lang="pt-BR"/>
              <a:t> se encontra; ou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que a </a:t>
            </a:r>
            <a:r>
              <a:rPr i="1" lang="pt-BR"/>
              <a:t>chave</a:t>
            </a:r>
            <a:r>
              <a:rPr lang="pt-BR"/>
              <a:t> não foi encontrada.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em um vetor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Dados um vetor e um valor a ser buscado (</a:t>
            </a:r>
            <a:r>
              <a:rPr i="1" lang="pt-BR"/>
              <a:t>chave</a:t>
            </a:r>
            <a:r>
              <a:rPr lang="pt-BR"/>
              <a:t> de busca), o algoritmo deve informar: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quais o(s) índice(s) onde a </a:t>
            </a:r>
            <a:r>
              <a:rPr i="1" lang="pt-BR"/>
              <a:t>chave</a:t>
            </a:r>
            <a:r>
              <a:rPr lang="pt-BR"/>
              <a:t> se encontra; ou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que a </a:t>
            </a:r>
            <a:r>
              <a:rPr i="1" lang="pt-BR"/>
              <a:t>chave</a:t>
            </a:r>
            <a:r>
              <a:rPr lang="pt-BR"/>
              <a:t> não foi encontrada.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u="sng"/>
              <a:t>Tipos de Busca</a:t>
            </a:r>
            <a:r>
              <a:rPr lang="pt-BR"/>
              <a:t>: </a:t>
            </a:r>
            <a:r>
              <a:rPr i="1" lang="pt-BR"/>
              <a:t>Sequencial</a:t>
            </a:r>
            <a:r>
              <a:rPr lang="pt-BR"/>
              <a:t> e </a:t>
            </a:r>
            <a:r>
              <a:rPr i="1" lang="pt-BR"/>
              <a:t>Binária</a:t>
            </a:r>
            <a:r>
              <a:rPr lang="pt-BR"/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1 : Busca em um vetor (1/3)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1 : Busca em um vetor (2/3)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Entrada 🡪 </a:t>
            </a:r>
            <a:r>
              <a:rPr lang="pt-BR">
                <a:solidFill>
                  <a:schemeClr val="dk2"/>
                </a:solidFill>
              </a:rPr>
              <a:t>chave = 13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1 : Busca em um vetor (3/3)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Entrada 🡪 </a:t>
            </a:r>
            <a:r>
              <a:rPr lang="pt-BR">
                <a:solidFill>
                  <a:schemeClr val="dk2"/>
                </a:solidFill>
              </a:rPr>
              <a:t>chave = 13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Saída 🡪 </a:t>
            </a:r>
            <a:r>
              <a:rPr lang="pt-BR">
                <a:solidFill>
                  <a:srgbClr val="FF0000"/>
                </a:solidFill>
              </a:rPr>
              <a:t>“Encontrado no índice 6.”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2 : Busca em um vetor (1/3)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2 : Busca em um vetor (2/3)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Entrada 🡪 </a:t>
            </a:r>
            <a:r>
              <a:rPr lang="pt-BR">
                <a:solidFill>
                  <a:schemeClr val="dk2"/>
                </a:solidFill>
              </a:rPr>
              <a:t>chave = 20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 2 : Busca em um vetor (3/3)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Dado o vetor v: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V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6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9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-3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17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22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13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81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44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 32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Entrada 🡪 </a:t>
            </a:r>
            <a:r>
              <a:rPr lang="pt-BR">
                <a:solidFill>
                  <a:schemeClr val="dk2"/>
                </a:solidFill>
              </a:rPr>
              <a:t>chave = 20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Saída 🡪 </a:t>
            </a:r>
            <a:r>
              <a:rPr lang="pt-BR">
                <a:solidFill>
                  <a:srgbClr val="FF0000"/>
                </a:solidFill>
              </a:rPr>
              <a:t>“Valor não encontrado!”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Pode ser feita em um vetor desordenado;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É feito um percurso no vetor, comparando a chave com cada valor do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Possui um desempenho proporcional ao tamanho do vetor (</a:t>
            </a:r>
            <a:r>
              <a:rPr i="1" lang="pt-BR">
                <a:solidFill>
                  <a:schemeClr val="lt1"/>
                </a:solidFill>
              </a:rPr>
              <a:t>linear</a:t>
            </a:r>
            <a:r>
              <a:rPr lang="pt-BR">
                <a:solidFill>
                  <a:schemeClr val="lt1"/>
                </a:solidFill>
              </a:rPr>
              <a:t>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</a:pPr>
            <a:r>
              <a:rPr lang="pt-BR">
                <a:solidFill>
                  <a:schemeClr val="lt1"/>
                </a:solidFill>
              </a:rPr>
              <a:t>Caso o vetor seja 10 vezes maior, o temp de resposta tende a ser também 10 vezes maior.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Pode ser feita em um vetor desordenado;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É feito um percurso no vetor, comparando a chave com cada valor do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Possui um desempenho proporcional ao tamanho do vetor (</a:t>
            </a:r>
            <a:r>
              <a:rPr i="1" lang="pt-BR">
                <a:solidFill>
                  <a:schemeClr val="lt1"/>
                </a:solidFill>
              </a:rPr>
              <a:t>linear</a:t>
            </a:r>
            <a:r>
              <a:rPr lang="pt-BR">
                <a:solidFill>
                  <a:schemeClr val="lt1"/>
                </a:solidFill>
              </a:rPr>
              <a:t>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</a:pPr>
            <a:r>
              <a:rPr lang="pt-BR">
                <a:solidFill>
                  <a:schemeClr val="lt1"/>
                </a:solidFill>
              </a:rPr>
              <a:t>Caso o vetor seja 10 vezes maior, o temp de resposta tende a ser também 10 vezes maior.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Pode ser feita em um vetor desordenado;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É feito um percurso no vetor, comparando a chave com cada valor do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Possui um desempenho proporcional ao tamanho do vetor (</a:t>
            </a:r>
            <a:r>
              <a:rPr i="1" lang="pt-BR"/>
              <a:t>linear</a:t>
            </a:r>
            <a:r>
              <a:rPr lang="pt-BR"/>
              <a:t>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</a:pPr>
            <a:r>
              <a:rPr lang="pt-BR">
                <a:solidFill>
                  <a:schemeClr val="lt1"/>
                </a:solidFill>
              </a:rPr>
              <a:t>Caso o vetor seja 10 vezes maior, o temp de resposta tende a ser também 10 vezes maior.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Pode ser feita em um vetor desordenado;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É feito um percurso no vetor, comparando a chave com cada valor do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Possui um desempenho proporcional ao tamanho do vetor (</a:t>
            </a:r>
            <a:r>
              <a:rPr i="1" lang="pt-BR"/>
              <a:t>linear</a:t>
            </a:r>
            <a:r>
              <a:rPr lang="pt-BR"/>
              <a:t>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Caso o vetor seja 10 vezes maior, o temp de resposta tende a ser também 10 vezes maior.</a:t>
            </a:r>
            <a:endParaRPr/>
          </a:p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   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   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2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achou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Se não encontrar nada, o algoritmo não mostra nada!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1;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if( !achou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1;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if( !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Sequencial</a:t>
            </a:r>
            <a:endParaRPr i="1"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v[] = {6, 9, 4, -3, 17, 22, 13, 81, 44, 32};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 ; i++ ){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if(v[i] == chave){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printf("Encontrado em %i\n", i);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= 1;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if( !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3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Dado o espaço de busca entre os índices 0 e </a:t>
            </a:r>
            <a:r>
              <a:rPr i="1" lang="pt-BR" sz="2800">
                <a:solidFill>
                  <a:schemeClr val="lt1"/>
                </a:solidFill>
              </a:rPr>
              <a:t>n</a:t>
            </a:r>
            <a:r>
              <a:rPr lang="pt-BR" sz="2800">
                <a:solidFill>
                  <a:schemeClr val="lt1"/>
                </a:solidFill>
              </a:rPr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Desempenho superior ao da busca sequencial.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Dado o espaço de busca entre os índices 0 e </a:t>
            </a:r>
            <a:r>
              <a:rPr i="1" lang="pt-BR" sz="2800"/>
              <a:t>n</a:t>
            </a:r>
            <a:r>
              <a:rPr lang="pt-BR" sz="2800"/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Desempenho superior ao da busca sequencial.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71" name="Google Shape;271;p3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77" name="Google Shape;277;p40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Dado o espaço de busca entre os índices 0 e </a:t>
            </a:r>
            <a:r>
              <a:rPr i="1" lang="pt-BR" sz="2800"/>
              <a:t>n</a:t>
            </a:r>
            <a:r>
              <a:rPr lang="pt-BR" sz="2800"/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Desempenho superior ao da busca sequencial.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78" name="Google Shape;278;p4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Dado o espaço de busca entre os índices 0 e </a:t>
            </a:r>
            <a:r>
              <a:rPr i="1" lang="pt-BR" sz="2800"/>
              <a:t>n</a:t>
            </a:r>
            <a:r>
              <a:rPr lang="pt-BR" sz="2800"/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</a:pPr>
            <a:r>
              <a:rPr lang="pt-BR" sz="2400">
                <a:solidFill>
                  <a:schemeClr val="lt1"/>
                </a:solidFill>
              </a:rPr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Desempenho superior ao da busca sequencial.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85" name="Google Shape;285;p4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Dado o espaço de busca entre os índices 0 e </a:t>
            </a:r>
            <a:r>
              <a:rPr i="1" lang="pt-BR" sz="2800"/>
              <a:t>n</a:t>
            </a:r>
            <a:r>
              <a:rPr lang="pt-BR" sz="2800"/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Desempenho superior ao da busca sequencial.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</a:t>
            </a:r>
            <a:endParaRPr/>
          </a:p>
        </p:txBody>
      </p:sp>
      <p:sp>
        <p:nvSpPr>
          <p:cNvPr id="298" name="Google Shape;298;p4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Só funciona em um </a:t>
            </a:r>
            <a:r>
              <a:rPr lang="pt-BR" sz="2800" u="sng"/>
              <a:t>vetor ordenado</a:t>
            </a:r>
            <a:r>
              <a:rPr lang="pt-BR" sz="2800"/>
              <a:t>!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Dado o espaço de busca entre os índices 0 e </a:t>
            </a:r>
            <a:r>
              <a:rPr i="1" lang="pt-BR" sz="2800"/>
              <a:t>n</a:t>
            </a:r>
            <a:r>
              <a:rPr lang="pt-BR" sz="2800"/>
              <a:t>-1: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Determina-se o índice médio do vetor;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Verifica-se se a chave está antes ou depois;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Define-se um novo espaço de busca (metade do tamanho);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Desempenho superior ao da busca sequencial.</a:t>
            </a:r>
            <a:endParaRPr sz="2800"/>
          </a:p>
        </p:txBody>
      </p:sp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(1/10)</a:t>
            </a:r>
            <a:endParaRPr/>
          </a:p>
        </p:txBody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90</a:t>
            </a:r>
            <a:endParaRPr/>
          </a:p>
        </p:txBody>
      </p:sp>
      <p:sp>
        <p:nvSpPr>
          <p:cNvPr id="306" name="Google Shape;306;p4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7" name="Google Shape;307;p44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4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9" name="Google Shape;309;p44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4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4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4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4" name="Google Shape;314;p44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5" name="Google Shape;315;p44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4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4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4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4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1" name="Google Shape;321;p44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4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3" name="Google Shape;323;p44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4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4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7" name="Google Shape;327;p44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4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(2/10)</a:t>
            </a:r>
            <a:endParaRPr/>
          </a:p>
        </p:txBody>
      </p:sp>
      <p:sp>
        <p:nvSpPr>
          <p:cNvPr id="336" name="Google Shape;336;p45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90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1ª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0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11</a:t>
            </a:r>
            <a:endParaRPr/>
          </a:p>
        </p:txBody>
      </p:sp>
      <p:sp>
        <p:nvSpPr>
          <p:cNvPr id="337" name="Google Shape;337;p4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8" name="Google Shape;338;p45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5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0" name="Google Shape;340;p45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5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5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5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5" name="Google Shape;345;p45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6" name="Google Shape;346;p45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5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50" name="Google Shape;350;p45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4" name="Google Shape;354;p45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8" name="Google Shape;358;p45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5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5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5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(3/10)</a:t>
            </a:r>
            <a:endParaRPr/>
          </a:p>
        </p:txBody>
      </p:sp>
      <p:sp>
        <p:nvSpPr>
          <p:cNvPr id="368" name="Google Shape;368;p46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1ª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5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69" name="Google Shape;369;p4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46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2" name="Google Shape;372;p46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7" name="Google Shape;377;p46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8" name="Google Shape;378;p46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6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83" name="Google Shape;383;p46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5" name="Google Shape;385;p46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6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9" name="Google Shape;389;p46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6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6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(4/10)</a:t>
            </a:r>
            <a:endParaRPr/>
          </a:p>
        </p:txBody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1ª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5</a:t>
            </a:r>
            <a:r>
              <a:rPr lang="pt-BR"/>
              <a:t>       </a:t>
            </a:r>
            <a:r>
              <a:rPr b="1" lang="pt-BR">
                <a:solidFill>
                  <a:srgbClr val="FF0000"/>
                </a:solidFill>
              </a:rPr>
              <a:t>🡪 chave está depois do </a:t>
            </a:r>
            <a:r>
              <a:rPr b="1" i="1" lang="pt-BR">
                <a:solidFill>
                  <a:srgbClr val="FF0000"/>
                </a:solidFill>
              </a:rPr>
              <a:t>meio</a:t>
            </a:r>
            <a:r>
              <a:rPr b="1" lang="pt-BR">
                <a:solidFill>
                  <a:srgbClr val="FF0000"/>
                </a:solidFill>
              </a:rPr>
              <a:t>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01" name="Google Shape;401;p4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2" name="Google Shape;402;p47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7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4" name="Google Shape;404;p47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7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9" name="Google Shape;409;p47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0" name="Google Shape;410;p47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7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3" name="Google Shape;413;p47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5" name="Google Shape;415;p47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17" name="Google Shape;417;p47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21" name="Google Shape;421;p47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7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(5/10)</a:t>
            </a:r>
            <a:endParaRPr/>
          </a:p>
        </p:txBody>
      </p:sp>
      <p:sp>
        <p:nvSpPr>
          <p:cNvPr id="432" name="Google Shape;432;p48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90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2ª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6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11</a:t>
            </a:r>
            <a:endParaRPr/>
          </a:p>
        </p:txBody>
      </p:sp>
      <p:sp>
        <p:nvSpPr>
          <p:cNvPr id="433" name="Google Shape;433;p4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4" name="Google Shape;434;p48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36" name="Google Shape;436;p48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41" name="Google Shape;441;p48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2" name="Google Shape;442;p48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46" name="Google Shape;446;p48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8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48" name="Google Shape;448;p48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8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50" name="Google Shape;450;p48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8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8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8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54" name="Google Shape;454;p48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8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8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8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8"/>
          <p:cNvSpPr/>
          <p:nvPr/>
        </p:nvSpPr>
        <p:spPr>
          <a:xfrm rot="5400000">
            <a:off x="5600699" y="1409700"/>
            <a:ext cx="533399" cy="27432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(6/10)</a:t>
            </a:r>
            <a:endParaRPr/>
          </a:p>
        </p:txBody>
      </p:sp>
      <p:sp>
        <p:nvSpPr>
          <p:cNvPr id="464" name="Google Shape;464;p49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2ª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6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8</a:t>
            </a:r>
            <a:endParaRPr/>
          </a:p>
        </p:txBody>
      </p:sp>
      <p:sp>
        <p:nvSpPr>
          <p:cNvPr id="465" name="Google Shape;465;p4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6" name="Google Shape;466;p49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68" name="Google Shape;468;p49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9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9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9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9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3" name="Google Shape;473;p49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74" name="Google Shape;474;p49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9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78" name="Google Shape;478;p49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80" name="Google Shape;480;p49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82" name="Google Shape;482;p49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9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9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85" name="Google Shape;485;p49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9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9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9"/>
          <p:cNvSpPr/>
          <p:nvPr/>
        </p:nvSpPr>
        <p:spPr>
          <a:xfrm rot="5400000">
            <a:off x="5600699" y="1409700"/>
            <a:ext cx="533399" cy="27432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9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(7/10)</a:t>
            </a:r>
            <a:endParaRPr/>
          </a:p>
        </p:txBody>
      </p:sp>
      <p:sp>
        <p:nvSpPr>
          <p:cNvPr id="496" name="Google Shape;496;p50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2ª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6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8</a:t>
            </a:r>
            <a:r>
              <a:rPr lang="pt-BR"/>
              <a:t>        </a:t>
            </a:r>
            <a:r>
              <a:rPr b="1" lang="pt-BR">
                <a:solidFill>
                  <a:srgbClr val="FF0000"/>
                </a:solidFill>
              </a:rPr>
              <a:t>🡪 chave está depois do </a:t>
            </a:r>
            <a:r>
              <a:rPr b="1" i="1" lang="pt-BR">
                <a:solidFill>
                  <a:srgbClr val="FF0000"/>
                </a:solidFill>
              </a:rPr>
              <a:t>meio</a:t>
            </a:r>
            <a:r>
              <a:rPr b="1" lang="pt-BR">
                <a:solidFill>
                  <a:srgbClr val="FF0000"/>
                </a:solidFill>
              </a:rPr>
              <a:t>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97" name="Google Shape;497;p5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8" name="Google Shape;498;p50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0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0" name="Google Shape;500;p50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0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0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0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0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05" name="Google Shape;505;p50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06" name="Google Shape;506;p50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0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0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0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10" name="Google Shape;510;p50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0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12" name="Google Shape;512;p50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14" name="Google Shape;514;p50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0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17" name="Google Shape;517;p50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0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0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0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0"/>
          <p:cNvSpPr/>
          <p:nvPr/>
        </p:nvSpPr>
        <p:spPr>
          <a:xfrm rot="5400000">
            <a:off x="5600699" y="1409700"/>
            <a:ext cx="533399" cy="27432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0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(8/10)</a:t>
            </a:r>
            <a:endParaRPr/>
          </a:p>
        </p:txBody>
      </p:sp>
      <p:sp>
        <p:nvSpPr>
          <p:cNvPr id="528" name="Google Shape;528;p51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90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3ª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9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11</a:t>
            </a:r>
            <a:endParaRPr/>
          </a:p>
        </p:txBody>
      </p:sp>
      <p:sp>
        <p:nvSpPr>
          <p:cNvPr id="529" name="Google Shape;529;p5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0" name="Google Shape;530;p51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1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1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1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1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1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37" name="Google Shape;537;p51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8" name="Google Shape;538;p51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1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1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1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42" name="Google Shape;542;p51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1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4" name="Google Shape;544;p51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1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46" name="Google Shape;546;p51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1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1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1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50" name="Google Shape;550;p51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1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1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1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1"/>
          <p:cNvSpPr/>
          <p:nvPr/>
        </p:nvSpPr>
        <p:spPr>
          <a:xfrm rot="5400000">
            <a:off x="6286499" y="2095501"/>
            <a:ext cx="533399" cy="1371599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(9/10)</a:t>
            </a:r>
            <a:endParaRPr/>
          </a:p>
        </p:txBody>
      </p:sp>
      <p:sp>
        <p:nvSpPr>
          <p:cNvPr id="560" name="Google Shape;560;p52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3ª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9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10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1" name="Google Shape;561;p5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2" name="Google Shape;562;p52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64" name="Google Shape;564;p52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2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2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69" name="Google Shape;569;p52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70" name="Google Shape;570;p52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2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2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2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74" name="Google Shape;574;p52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2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76" name="Google Shape;576;p52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2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78" name="Google Shape;578;p52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2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2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2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82" name="Google Shape;582;p52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2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2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2"/>
          <p:cNvSpPr/>
          <p:nvPr/>
        </p:nvSpPr>
        <p:spPr>
          <a:xfrm rot="5400000">
            <a:off x="6286499" y="2095501"/>
            <a:ext cx="533399" cy="1371599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2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1 (10/10)</a:t>
            </a:r>
            <a:endParaRPr/>
          </a:p>
        </p:txBody>
      </p:sp>
      <p:sp>
        <p:nvSpPr>
          <p:cNvPr id="592" name="Google Shape;592;p53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90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3ª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9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10        </a:t>
            </a:r>
            <a:r>
              <a:rPr b="1" lang="pt-BR">
                <a:solidFill>
                  <a:srgbClr val="FF0000"/>
                </a:solidFill>
              </a:rPr>
              <a:t>🡪 chave encontrada!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3" name="Google Shape;593;p5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4" name="Google Shape;594;p53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3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96" name="Google Shape;596;p53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3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3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01" name="Google Shape;601;p53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02" name="Google Shape;602;p53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3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3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3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06" name="Google Shape;606;p53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3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08" name="Google Shape;608;p53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3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10" name="Google Shape;610;p53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3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3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3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14" name="Google Shape;614;p53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3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3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3"/>
          <p:cNvSpPr/>
          <p:nvPr/>
        </p:nvSpPr>
        <p:spPr>
          <a:xfrm rot="5400000">
            <a:off x="6286499" y="2095501"/>
            <a:ext cx="533399" cy="1371599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3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624" name="Google Shape;624;p5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espaço de busca é dividido por 2 a cada iteração;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pt-BR">
                <a:solidFill>
                  <a:schemeClr val="lt1"/>
                </a:solidFill>
              </a:rPr>
              <a:t>O número de iterações (tempo de resposta) tende a ser proporcional a </a:t>
            </a:r>
            <a:r>
              <a:rPr i="1" lang="pt-BR">
                <a:solidFill>
                  <a:schemeClr val="lt1"/>
                </a:solidFill>
              </a:rPr>
              <a:t>log</a:t>
            </a:r>
            <a:r>
              <a:rPr baseline="-25000" i="1" lang="pt-BR">
                <a:solidFill>
                  <a:schemeClr val="lt1"/>
                </a:solidFill>
              </a:rPr>
              <a:t>2</a:t>
            </a:r>
            <a:r>
              <a:rPr i="1" lang="pt-BR">
                <a:solidFill>
                  <a:schemeClr val="lt1"/>
                </a:solidFill>
              </a:rPr>
              <a:t> (n)</a:t>
            </a:r>
            <a:r>
              <a:rPr lang="pt-BR">
                <a:solidFill>
                  <a:schemeClr val="lt1"/>
                </a:solidFill>
              </a:rPr>
              <a:t>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lt1"/>
              </a:buClr>
              <a:buSzPct val="100000"/>
              <a:buChar char="–"/>
            </a:pPr>
            <a:r>
              <a:rPr i="1" lang="pt-BR">
                <a:solidFill>
                  <a:schemeClr val="lt1"/>
                </a:solidFill>
              </a:rPr>
              <a:t>n</a:t>
            </a:r>
            <a:r>
              <a:rPr lang="pt-BR">
                <a:solidFill>
                  <a:schemeClr val="lt1"/>
                </a:solidFill>
              </a:rPr>
              <a:t> é a capacidade do vetor;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pt-BR">
                <a:solidFill>
                  <a:schemeClr val="lt1"/>
                </a:solidFill>
              </a:rPr>
              <a:t>Portanto, para n=1000, teremos cerca de 10 iterações: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lt1"/>
              </a:buClr>
              <a:buSzPct val="100000"/>
              <a:buChar char="–"/>
            </a:pPr>
            <a:r>
              <a:rPr i="1" lang="pt-BR">
                <a:solidFill>
                  <a:schemeClr val="lt1"/>
                </a:solidFill>
              </a:rPr>
              <a:t>log</a:t>
            </a:r>
            <a:r>
              <a:rPr baseline="-25000" i="1" lang="pt-BR">
                <a:solidFill>
                  <a:schemeClr val="lt1"/>
                </a:solidFill>
              </a:rPr>
              <a:t>2</a:t>
            </a:r>
            <a:r>
              <a:rPr i="1" lang="pt-BR">
                <a:solidFill>
                  <a:schemeClr val="lt1"/>
                </a:solidFill>
              </a:rPr>
              <a:t> (1000)</a:t>
            </a:r>
            <a:r>
              <a:rPr lang="pt-BR">
                <a:solidFill>
                  <a:schemeClr val="lt1"/>
                </a:solidFill>
              </a:rPr>
              <a:t> = ~10</a:t>
            </a:r>
            <a:endParaRPr/>
          </a:p>
        </p:txBody>
      </p:sp>
      <p:sp>
        <p:nvSpPr>
          <p:cNvPr id="625" name="Google Shape;625;p5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631" name="Google Shape;631;p5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espaço de busca é dividido por 2 a cada iteração;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número de iterações (tempo de resposta) tende a ser proporcional a </a:t>
            </a:r>
            <a:r>
              <a:rPr i="1" lang="pt-BR"/>
              <a:t>log</a:t>
            </a:r>
            <a:r>
              <a:rPr baseline="-25000" i="1" lang="pt-BR"/>
              <a:t>2</a:t>
            </a:r>
            <a:r>
              <a:rPr i="1" lang="pt-BR"/>
              <a:t> (n)</a:t>
            </a:r>
            <a:r>
              <a:rPr lang="pt-BR"/>
              <a:t>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i="1" lang="pt-BR"/>
              <a:t>n</a:t>
            </a:r>
            <a:r>
              <a:rPr lang="pt-BR"/>
              <a:t> é a capacidade do vetor;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pt-BR">
                <a:solidFill>
                  <a:schemeClr val="lt1"/>
                </a:solidFill>
              </a:rPr>
              <a:t>Portanto, para n=1000, teremos cerca de 10 iterações: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lt1"/>
              </a:buClr>
              <a:buSzPct val="100000"/>
              <a:buChar char="–"/>
            </a:pPr>
            <a:r>
              <a:rPr i="1" lang="pt-BR">
                <a:solidFill>
                  <a:schemeClr val="lt1"/>
                </a:solidFill>
              </a:rPr>
              <a:t>log</a:t>
            </a:r>
            <a:r>
              <a:rPr baseline="-25000" i="1" lang="pt-BR">
                <a:solidFill>
                  <a:schemeClr val="lt1"/>
                </a:solidFill>
              </a:rPr>
              <a:t>2</a:t>
            </a:r>
            <a:r>
              <a:rPr i="1" lang="pt-BR">
                <a:solidFill>
                  <a:schemeClr val="lt1"/>
                </a:solidFill>
              </a:rPr>
              <a:t> (1000)</a:t>
            </a:r>
            <a:r>
              <a:rPr lang="pt-BR">
                <a:solidFill>
                  <a:schemeClr val="lt1"/>
                </a:solidFill>
              </a:rPr>
              <a:t> = ~10</a:t>
            </a:r>
            <a:endParaRPr/>
          </a:p>
        </p:txBody>
      </p:sp>
      <p:sp>
        <p:nvSpPr>
          <p:cNvPr id="632" name="Google Shape;632;p5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638" name="Google Shape;638;p5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espaço de busca é dividido por 2 a cada iteração;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número de iterações (tempo de resposta) tende a ser proporcional a </a:t>
            </a:r>
            <a:r>
              <a:rPr i="1" lang="pt-BR"/>
              <a:t>log</a:t>
            </a:r>
            <a:r>
              <a:rPr baseline="-25000" i="1" lang="pt-BR"/>
              <a:t>2</a:t>
            </a:r>
            <a:r>
              <a:rPr i="1" lang="pt-BR"/>
              <a:t> (n)</a:t>
            </a:r>
            <a:r>
              <a:rPr lang="pt-BR"/>
              <a:t>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i="1" lang="pt-BR"/>
              <a:t>n</a:t>
            </a:r>
            <a:r>
              <a:rPr lang="pt-BR"/>
              <a:t> é a capacidade do vetor;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Portanto, para n=1000, teremos cerca de 10 iterações: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i="1" lang="pt-BR"/>
              <a:t>log</a:t>
            </a:r>
            <a:r>
              <a:rPr baseline="-25000" i="1" lang="pt-BR"/>
              <a:t>2</a:t>
            </a:r>
            <a:r>
              <a:rPr i="1" lang="pt-BR"/>
              <a:t> (1000)</a:t>
            </a:r>
            <a:r>
              <a:rPr lang="pt-BR"/>
              <a:t> = ~10</a:t>
            </a:r>
            <a:endParaRPr/>
          </a:p>
        </p:txBody>
      </p:sp>
      <p:sp>
        <p:nvSpPr>
          <p:cNvPr id="639" name="Google Shape;639;p5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(1/11)</a:t>
            </a:r>
            <a:endParaRPr/>
          </a:p>
        </p:txBody>
      </p:sp>
      <p:sp>
        <p:nvSpPr>
          <p:cNvPr id="645" name="Google Shape;645;p57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6</a:t>
            </a:r>
            <a:endParaRPr/>
          </a:p>
        </p:txBody>
      </p:sp>
      <p:sp>
        <p:nvSpPr>
          <p:cNvPr id="646" name="Google Shape;646;p5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7" name="Google Shape;647;p57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9" name="Google Shape;649;p57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7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54" name="Google Shape;654;p57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55" name="Google Shape;655;p57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7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7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7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9" name="Google Shape;659;p57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7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1" name="Google Shape;661;p57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63" name="Google Shape;663;p57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7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7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7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67" name="Google Shape;667;p57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7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7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7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(2/11)</a:t>
            </a:r>
            <a:endParaRPr/>
          </a:p>
        </p:txBody>
      </p:sp>
      <p:sp>
        <p:nvSpPr>
          <p:cNvPr id="676" name="Google Shape;676;p58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6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1ª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0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11</a:t>
            </a:r>
            <a:endParaRPr/>
          </a:p>
        </p:txBody>
      </p:sp>
      <p:sp>
        <p:nvSpPr>
          <p:cNvPr id="677" name="Google Shape;677;p5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8" name="Google Shape;678;p58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8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80" name="Google Shape;680;p58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8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8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8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8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85" name="Google Shape;685;p58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6" name="Google Shape;686;p58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8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8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0" name="Google Shape;690;p58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58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92" name="Google Shape;692;p58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94" name="Google Shape;694;p58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8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8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98" name="Google Shape;698;p58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8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8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8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8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(3/11)</a:t>
            </a:r>
            <a:endParaRPr/>
          </a:p>
        </p:txBody>
      </p:sp>
      <p:sp>
        <p:nvSpPr>
          <p:cNvPr id="708" name="Google Shape;708;p59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1ª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5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09" name="Google Shape;709;p5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0" name="Google Shape;710;p59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9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12" name="Google Shape;712;p59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59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9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17" name="Google Shape;717;p59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18" name="Google Shape;718;p59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9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21" name="Google Shape;721;p59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9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23" name="Google Shape;723;p59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25" name="Google Shape;725;p59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9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9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59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29" name="Google Shape;729;p59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9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(4/11)</a:t>
            </a:r>
            <a:endParaRPr/>
          </a:p>
        </p:txBody>
      </p:sp>
      <p:sp>
        <p:nvSpPr>
          <p:cNvPr id="740" name="Google Shape;740;p60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1ª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5</a:t>
            </a:r>
            <a:r>
              <a:rPr lang="pt-BR"/>
              <a:t>       </a:t>
            </a:r>
            <a:r>
              <a:rPr b="1" lang="pt-BR">
                <a:solidFill>
                  <a:srgbClr val="FF0000"/>
                </a:solidFill>
              </a:rPr>
              <a:t>🡪 chave está antes do </a:t>
            </a:r>
            <a:r>
              <a:rPr b="1" i="1" lang="pt-BR">
                <a:solidFill>
                  <a:srgbClr val="FF0000"/>
                </a:solidFill>
              </a:rPr>
              <a:t>meio</a:t>
            </a:r>
            <a:r>
              <a:rPr b="1" lang="pt-BR">
                <a:solidFill>
                  <a:srgbClr val="FF0000"/>
                </a:solidFill>
              </a:rPr>
              <a:t>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1" name="Google Shape;741;p6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2" name="Google Shape;742;p60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60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4" name="Google Shape;744;p60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60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0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0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0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9" name="Google Shape;749;p60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50" name="Google Shape;750;p60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0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0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53" name="Google Shape;753;p60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55" name="Google Shape;755;p60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57" name="Google Shape;757;p60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0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0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61" name="Google Shape;761;p60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0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0"/>
          <p:cNvSpPr/>
          <p:nvPr/>
        </p:nvSpPr>
        <p:spPr>
          <a:xfrm rot="5400000">
            <a:off x="4229100" y="38100"/>
            <a:ext cx="533399" cy="5486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0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(5/11)</a:t>
            </a:r>
            <a:endParaRPr/>
          </a:p>
        </p:txBody>
      </p:sp>
      <p:sp>
        <p:nvSpPr>
          <p:cNvPr id="772" name="Google Shape;772;p61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6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2ª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0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4</a:t>
            </a:r>
            <a:endParaRPr/>
          </a:p>
        </p:txBody>
      </p:sp>
      <p:sp>
        <p:nvSpPr>
          <p:cNvPr id="773" name="Google Shape;773;p6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4" name="Google Shape;774;p61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76" name="Google Shape;776;p61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1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1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1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81" name="Google Shape;781;p61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82" name="Google Shape;782;p61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1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1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86" name="Google Shape;786;p61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1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88" name="Google Shape;788;p61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1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90" name="Google Shape;790;p61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1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1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1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94" name="Google Shape;794;p61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1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1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61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1"/>
          <p:cNvSpPr/>
          <p:nvPr/>
        </p:nvSpPr>
        <p:spPr>
          <a:xfrm rot="5400000">
            <a:off x="2628900" y="1638300"/>
            <a:ext cx="533399" cy="22860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(6/11)</a:t>
            </a:r>
            <a:endParaRPr/>
          </a:p>
        </p:txBody>
      </p:sp>
      <p:sp>
        <p:nvSpPr>
          <p:cNvPr id="804" name="Google Shape;804;p62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2ª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4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05" name="Google Shape;805;p6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6" name="Google Shape;806;p62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2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08" name="Google Shape;808;p62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2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62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2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12" name="Google Shape;812;p62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13" name="Google Shape;813;p62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2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2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2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17" name="Google Shape;817;p62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2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19" name="Google Shape;819;p62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21" name="Google Shape;821;p62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2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2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2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25" name="Google Shape;825;p62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2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2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2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2"/>
          <p:cNvSpPr/>
          <p:nvPr/>
        </p:nvSpPr>
        <p:spPr>
          <a:xfrm rot="5400000">
            <a:off x="2628900" y="1638300"/>
            <a:ext cx="533399" cy="22860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2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(7/11)</a:t>
            </a:r>
            <a:endParaRPr/>
          </a:p>
        </p:txBody>
      </p:sp>
      <p:sp>
        <p:nvSpPr>
          <p:cNvPr id="836" name="Google Shape;836;p63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2ª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0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4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2       </a:t>
            </a:r>
            <a:r>
              <a:rPr b="1" lang="pt-BR">
                <a:solidFill>
                  <a:srgbClr val="FF0000"/>
                </a:solidFill>
              </a:rPr>
              <a:t>🡪 chave está depois do </a:t>
            </a:r>
            <a:r>
              <a:rPr b="1" i="1" lang="pt-BR">
                <a:solidFill>
                  <a:srgbClr val="FF0000"/>
                </a:solidFill>
              </a:rPr>
              <a:t>meio</a:t>
            </a:r>
            <a:r>
              <a:rPr b="1" lang="pt-BR">
                <a:solidFill>
                  <a:srgbClr val="FF0000"/>
                </a:solidFill>
              </a:rPr>
              <a:t>!</a:t>
            </a:r>
            <a:endParaRPr/>
          </a:p>
        </p:txBody>
      </p:sp>
      <p:sp>
        <p:nvSpPr>
          <p:cNvPr id="837" name="Google Shape;837;p6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8" name="Google Shape;838;p63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3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0" name="Google Shape;840;p63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3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3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63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44" name="Google Shape;844;p63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45" name="Google Shape;845;p63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63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63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3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49" name="Google Shape;849;p63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3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51" name="Google Shape;851;p63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3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3" name="Google Shape;853;p63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3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3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3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57" name="Google Shape;857;p63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3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3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3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3"/>
          <p:cNvSpPr/>
          <p:nvPr/>
        </p:nvSpPr>
        <p:spPr>
          <a:xfrm rot="5400000">
            <a:off x="2628900" y="1638300"/>
            <a:ext cx="533399" cy="22860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3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(8/11)</a:t>
            </a:r>
            <a:endParaRPr/>
          </a:p>
        </p:txBody>
      </p:sp>
      <p:sp>
        <p:nvSpPr>
          <p:cNvPr id="868" name="Google Shape;868;p64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6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3ª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3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4</a:t>
            </a:r>
            <a:endParaRPr/>
          </a:p>
        </p:txBody>
      </p:sp>
      <p:sp>
        <p:nvSpPr>
          <p:cNvPr id="869" name="Google Shape;869;p6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0" name="Google Shape;870;p64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4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72" name="Google Shape;872;p64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64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4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4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4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77" name="Google Shape;877;p64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78" name="Google Shape;878;p64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64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4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4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82" name="Google Shape;882;p64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4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84" name="Google Shape;884;p64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4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86" name="Google Shape;886;p64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64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64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64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90" name="Google Shape;890;p64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4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4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4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4"/>
          <p:cNvSpPr/>
          <p:nvPr/>
        </p:nvSpPr>
        <p:spPr>
          <a:xfrm rot="5400000">
            <a:off x="3314699" y="2324101"/>
            <a:ext cx="533399" cy="914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(9/11)</a:t>
            </a:r>
            <a:endParaRPr/>
          </a:p>
        </p:txBody>
      </p:sp>
      <p:sp>
        <p:nvSpPr>
          <p:cNvPr id="900" name="Google Shape;900;p65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3ª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3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4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3</a:t>
            </a:r>
            <a:endParaRPr/>
          </a:p>
        </p:txBody>
      </p:sp>
      <p:sp>
        <p:nvSpPr>
          <p:cNvPr id="901" name="Google Shape;901;p6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2" name="Google Shape;902;p65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5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04" name="Google Shape;904;p65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5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5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5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5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09" name="Google Shape;909;p65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65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5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65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13" name="Google Shape;913;p65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5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15" name="Google Shape;915;p65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5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17" name="Google Shape;917;p65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5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5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5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21" name="Google Shape;921;p65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5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5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5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5"/>
          <p:cNvSpPr/>
          <p:nvPr/>
        </p:nvSpPr>
        <p:spPr>
          <a:xfrm rot="5400000">
            <a:off x="3314699" y="2324101"/>
            <a:ext cx="533399" cy="914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5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(10/11)</a:t>
            </a:r>
            <a:endParaRPr/>
          </a:p>
        </p:txBody>
      </p:sp>
      <p:sp>
        <p:nvSpPr>
          <p:cNvPr id="932" name="Google Shape;932;p66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Chave = 6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3ª iteração: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início = 3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fim    = 4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>
                <a:solidFill>
                  <a:srgbClr val="FF0000"/>
                </a:solidFill>
              </a:rPr>
              <a:t>meio = 3      </a:t>
            </a:r>
            <a:r>
              <a:rPr b="1" lang="pt-BR">
                <a:solidFill>
                  <a:srgbClr val="FF0000"/>
                </a:solidFill>
              </a:rPr>
              <a:t>🡪 chave está antes do </a:t>
            </a:r>
            <a:r>
              <a:rPr b="1" i="1" lang="pt-BR">
                <a:solidFill>
                  <a:srgbClr val="FF0000"/>
                </a:solidFill>
              </a:rPr>
              <a:t>meio</a:t>
            </a:r>
            <a:r>
              <a:rPr b="1" lang="pt-BR">
                <a:solidFill>
                  <a:srgbClr val="FF0000"/>
                </a:solidFill>
              </a:rPr>
              <a:t>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33" name="Google Shape;933;p6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4" name="Google Shape;934;p66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6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36" name="Google Shape;936;p66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6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6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6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6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41" name="Google Shape;941;p66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6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6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66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45" name="Google Shape;945;p66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6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47" name="Google Shape;947;p66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6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49" name="Google Shape;949;p66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6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6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6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53" name="Google Shape;953;p66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6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6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6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6"/>
          <p:cNvSpPr/>
          <p:nvPr/>
        </p:nvSpPr>
        <p:spPr>
          <a:xfrm rot="5400000">
            <a:off x="3314699" y="2324101"/>
            <a:ext cx="533399" cy="914400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6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Binária: Exemplo 2 (11/11)</a:t>
            </a:r>
            <a:endParaRPr/>
          </a:p>
        </p:txBody>
      </p:sp>
      <p:sp>
        <p:nvSpPr>
          <p:cNvPr id="964" name="Google Shape;964;p67"/>
          <p:cNvSpPr txBox="1"/>
          <p:nvPr>
            <p:ph idx="1" type="body"/>
          </p:nvPr>
        </p:nvSpPr>
        <p:spPr>
          <a:xfrm>
            <a:off x="457200" y="3429000"/>
            <a:ext cx="8229600" cy="269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Chave = 6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4ª iteração:</a:t>
            </a:r>
            <a:endParaRPr sz="30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início = </a:t>
            </a:r>
            <a:r>
              <a:rPr lang="pt-BR" sz="2600">
                <a:solidFill>
                  <a:srgbClr val="FF0000"/>
                </a:solidFill>
              </a:rPr>
              <a:t>3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600"/>
              <a:t>fim    = </a:t>
            </a:r>
            <a:r>
              <a:rPr lang="pt-BR" sz="2600">
                <a:solidFill>
                  <a:srgbClr val="FF0000"/>
                </a:solidFill>
              </a:rPr>
              <a:t>2   </a:t>
            </a:r>
            <a:r>
              <a:rPr b="1" lang="pt-BR" sz="2600">
                <a:solidFill>
                  <a:srgbClr val="FF0000"/>
                </a:solidFill>
              </a:rPr>
              <a:t>🡪 início &gt; fim (sem espaço de busca!)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965" name="Google Shape;965;p6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66" name="Google Shape;966;p67"/>
          <p:cNvSpPr/>
          <p:nvPr/>
        </p:nvSpPr>
        <p:spPr>
          <a:xfrm>
            <a:off x="1752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7"/>
          <p:cNvSpPr/>
          <p:nvPr/>
        </p:nvSpPr>
        <p:spPr>
          <a:xfrm>
            <a:off x="1752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68" name="Google Shape;968;p67"/>
          <p:cNvSpPr/>
          <p:nvPr/>
        </p:nvSpPr>
        <p:spPr>
          <a:xfrm>
            <a:off x="2209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7"/>
          <p:cNvSpPr/>
          <p:nvPr/>
        </p:nvSpPr>
        <p:spPr>
          <a:xfrm>
            <a:off x="2209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2667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7"/>
          <p:cNvSpPr/>
          <p:nvPr/>
        </p:nvSpPr>
        <p:spPr>
          <a:xfrm>
            <a:off x="2667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7"/>
          <p:cNvSpPr/>
          <p:nvPr/>
        </p:nvSpPr>
        <p:spPr>
          <a:xfrm>
            <a:off x="3124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73" name="Google Shape;973;p67"/>
          <p:cNvSpPr/>
          <p:nvPr/>
        </p:nvSpPr>
        <p:spPr>
          <a:xfrm>
            <a:off x="3124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74" name="Google Shape;974;p67"/>
          <p:cNvSpPr/>
          <p:nvPr/>
        </p:nvSpPr>
        <p:spPr>
          <a:xfrm>
            <a:off x="3581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7"/>
          <p:cNvSpPr/>
          <p:nvPr/>
        </p:nvSpPr>
        <p:spPr>
          <a:xfrm>
            <a:off x="3581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7"/>
          <p:cNvSpPr/>
          <p:nvPr/>
        </p:nvSpPr>
        <p:spPr>
          <a:xfrm>
            <a:off x="4038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7"/>
          <p:cNvSpPr/>
          <p:nvPr/>
        </p:nvSpPr>
        <p:spPr>
          <a:xfrm>
            <a:off x="4038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78" name="Google Shape;978;p67"/>
          <p:cNvSpPr/>
          <p:nvPr/>
        </p:nvSpPr>
        <p:spPr>
          <a:xfrm>
            <a:off x="4495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67"/>
          <p:cNvSpPr/>
          <p:nvPr/>
        </p:nvSpPr>
        <p:spPr>
          <a:xfrm>
            <a:off x="4495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80" name="Google Shape;980;p67"/>
          <p:cNvSpPr/>
          <p:nvPr/>
        </p:nvSpPr>
        <p:spPr>
          <a:xfrm>
            <a:off x="49530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7"/>
          <p:cNvSpPr/>
          <p:nvPr/>
        </p:nvSpPr>
        <p:spPr>
          <a:xfrm>
            <a:off x="49530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82" name="Google Shape;982;p67"/>
          <p:cNvSpPr/>
          <p:nvPr/>
        </p:nvSpPr>
        <p:spPr>
          <a:xfrm>
            <a:off x="54102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7"/>
          <p:cNvSpPr/>
          <p:nvPr/>
        </p:nvSpPr>
        <p:spPr>
          <a:xfrm>
            <a:off x="54102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7"/>
          <p:cNvSpPr/>
          <p:nvPr/>
        </p:nvSpPr>
        <p:spPr>
          <a:xfrm>
            <a:off x="58674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7"/>
          <p:cNvSpPr/>
          <p:nvPr/>
        </p:nvSpPr>
        <p:spPr>
          <a:xfrm>
            <a:off x="58674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86" name="Google Shape;986;p67"/>
          <p:cNvSpPr/>
          <p:nvPr/>
        </p:nvSpPr>
        <p:spPr>
          <a:xfrm>
            <a:off x="63246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7"/>
          <p:cNvSpPr/>
          <p:nvPr/>
        </p:nvSpPr>
        <p:spPr>
          <a:xfrm>
            <a:off x="63246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7"/>
          <p:cNvSpPr/>
          <p:nvPr/>
        </p:nvSpPr>
        <p:spPr>
          <a:xfrm>
            <a:off x="6781800" y="1676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7"/>
          <p:cNvSpPr/>
          <p:nvPr/>
        </p:nvSpPr>
        <p:spPr>
          <a:xfrm>
            <a:off x="6781800" y="213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67"/>
          <p:cNvSpPr/>
          <p:nvPr/>
        </p:nvSpPr>
        <p:spPr>
          <a:xfrm rot="5400000">
            <a:off x="2857501" y="2705101"/>
            <a:ext cx="533399" cy="152401"/>
          </a:xfrm>
          <a:prstGeom prst="rightBrace">
            <a:avLst>
              <a:gd fmla="val 8333" name="adj1"/>
              <a:gd fmla="val 49495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996" name="Google Shape;996;p6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Quando a chave não se encontra no vetor, chega-se sempre à condição </a:t>
            </a:r>
            <a:r>
              <a:rPr i="1" lang="pt-BR"/>
              <a:t>inicio &gt; fim</a:t>
            </a:r>
            <a:r>
              <a:rPr lang="pt-BR"/>
              <a:t>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Não há mais espaço de busca;</a:t>
            </a:r>
            <a:endParaRPr/>
          </a:p>
        </p:txBody>
      </p:sp>
      <p:sp>
        <p:nvSpPr>
          <p:cNvPr id="997" name="Google Shape;997;p6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1003" name="Google Shape;1003;p69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Quando a chave não se encontra no vetor, chega-se sempre à condição </a:t>
            </a:r>
            <a:r>
              <a:rPr i="1" lang="pt-BR"/>
              <a:t>inicio &gt; fim</a:t>
            </a:r>
            <a:r>
              <a:rPr lang="pt-BR"/>
              <a:t>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Não há mais espaço de busca;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Portanto, os critérios de parada da </a:t>
            </a:r>
            <a:r>
              <a:rPr i="1" lang="pt-BR"/>
              <a:t>busca binária</a:t>
            </a:r>
            <a:r>
              <a:rPr lang="pt-BR"/>
              <a:t> são: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Chave encontrada no </a:t>
            </a:r>
            <a:r>
              <a:rPr i="1" lang="pt-BR"/>
              <a:t>meio</a:t>
            </a:r>
            <a:r>
              <a:rPr lang="pt-BR"/>
              <a:t>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Chave não encontrada (</a:t>
            </a:r>
            <a:r>
              <a:rPr i="1" lang="pt-BR"/>
              <a:t>inicio &gt; fim</a:t>
            </a:r>
            <a:r>
              <a:rPr lang="pt-BR"/>
              <a:t>).</a:t>
            </a:r>
            <a:endParaRPr/>
          </a:p>
        </p:txBody>
      </p:sp>
      <p:sp>
        <p:nvSpPr>
          <p:cNvPr id="1004" name="Google Shape;1004;p6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(1/3)</a:t>
            </a:r>
            <a:endParaRPr i="1"/>
          </a:p>
        </p:txBody>
      </p:sp>
      <p:sp>
        <p:nvSpPr>
          <p:cNvPr id="1010" name="Google Shape;1010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int v[] = {2, 4, 5, 8, 11, 17, 32, 44, 60, 81};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int n = 10, chave;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printf("Digite o valor a ser buscado: ");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scanf("%d", &amp;chave);</a:t>
            </a:r>
            <a:endParaRPr/>
          </a:p>
        </p:txBody>
      </p:sp>
      <p:sp>
        <p:nvSpPr>
          <p:cNvPr id="1011" name="Google Shape;1011;p7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17" name="Google Shape;1017;p7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 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}while( !achou &amp;&amp; ini &lt;= fim );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8" name="Google Shape;1018;p7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24" name="Google Shape;1024;p7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 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}while( 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&amp;&amp; ini &lt;= fim</a:t>
            </a: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5" name="Google Shape;1025;p7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31" name="Google Shape;1031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achou = 1; 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}while( 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&amp;&amp; ini &lt;= fim</a:t>
            </a: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2" name="Google Shape;1032;p7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38" name="Google Shape;1038;p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1; </a:t>
            </a:r>
            <a:endParaRPr b="1" sz="2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}while( 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&amp;&amp; ini &lt;= fim</a:t>
            </a: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9" name="Google Shape;1039;p7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45" name="Google Shape;1045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1; </a:t>
            </a:r>
            <a:endParaRPr b="1" sz="2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b="1" lang="pt-BR" sz="2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}while( 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&amp;&amp; ini &lt;= fim</a:t>
            </a: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6" name="Google Shape;1046;p7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(2/3)</a:t>
            </a:r>
            <a:endParaRPr i="1"/>
          </a:p>
        </p:txBody>
      </p:sp>
      <p:sp>
        <p:nvSpPr>
          <p:cNvPr id="1052" name="Google Shape;1052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int ini = 0, fim = n-1, meio;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meio = ( ini + fim ) / 2;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if( v[meio] == chave 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</a:pP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= 1; </a:t>
            </a:r>
            <a:endParaRPr b="1" sz="2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if( v[meio] &lt; chave 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  ini = meio + 1;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     fim = meio - 1;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}while( 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pt-BR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 &amp;&amp; ini &lt;= fim</a:t>
            </a:r>
            <a:r>
              <a:rPr b="1"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b="1" lang="pt-BR" sz="21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3" name="Google Shape;1053;p7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Busca Binária (3/3)</a:t>
            </a:r>
            <a:endParaRPr i="1"/>
          </a:p>
        </p:txBody>
      </p:sp>
      <p:sp>
        <p:nvSpPr>
          <p:cNvPr id="1059" name="Google Shape;1059;p7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if( </a:t>
            </a:r>
            <a:r>
              <a:rPr b="1" lang="pt-BR" sz="2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achou</a:t>
            </a: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  printf("Encontrado em %d.\n", meio );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  printf("Não encontrado!\n");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0" name="Google Shape;1060;p7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8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1066" name="Google Shape;1066;p7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67" name="Google Shape;1067;p7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7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1073" name="Google Shape;1073;p79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t-BR"/>
              <a:t>Implemente os códigos apresentados em aula;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t-BR"/>
              <a:t>Modifique a </a:t>
            </a:r>
            <a:r>
              <a:rPr i="1" lang="pt-BR"/>
              <a:t>busca binária</a:t>
            </a:r>
            <a:r>
              <a:rPr lang="pt-BR"/>
              <a:t>, de modo que ela imprima na tela um contador a cada iteração;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Analise a quantidade de iterações com um vetor grande (pelo menos 1000 valores);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Gere valores aleatórios e ordene o vetor antes da busca.</a:t>
            </a:r>
            <a:endParaRPr/>
          </a:p>
        </p:txBody>
      </p:sp>
      <p:sp>
        <p:nvSpPr>
          <p:cNvPr id="1074" name="Google Shape;1074;p7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